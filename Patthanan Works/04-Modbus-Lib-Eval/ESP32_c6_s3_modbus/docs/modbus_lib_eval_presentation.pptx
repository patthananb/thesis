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ESP32 Modbus Library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>
                <a:solidFill>
                  <a:srgbClr val="CFE0F1"/>
                </a:solidFill>
                <a:latin typeface="Calibri"/>
              </a:rPr>
              <a:t>Multi-environment PlatformIO sweep on ESP32-S3 DUT vs ESP32-C6 mock slave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Patthanan Bhandhumanee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CFE0F1"/>
                </a:solidFill>
                <a:latin typeface="Calibri"/>
              </a:rPr>
              <a:t>2026-05-14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CFE0F1"/>
                </a:solidFill>
                <a:latin typeface="Calibri"/>
              </a:rPr>
              <a:t>Survey reference: modbus_lib_eval_2026-05-11.pdf · 10 candidate projects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Goal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What does this experiment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Take 10 ESP32 Modbus projects from the PDF survey rubric and put each one on real hardware.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ESP32-S3 is the device under test (DUT). It is flashed with one candidate library at a time.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ESP32-C6 is a small custom Modbus RTU slave fixture (the same mock slave for every DUT).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Each DUT exercises a fixed FC3 / FC6 / FC16 cycle against the C6 and prints PASS / FAIL per step.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Output: a per-candidate verdict on framework compatibility, flash &amp; RAM usage, and runtime behavior.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Style constraint: each DUT sketch is plain Arduino-IDE-style code — setup() / loop() / free helpers — no project-level OOP or shared harness.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ESP32 Modbus Library Evaluation · Patthanan Bhandhumanee · 2026-05-14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Hardware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Two boards over RS485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926080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ESP32-S3 (DUT)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9260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4D Systems Gen4 R8N16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UART1 TX = GPIO 9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UART1 RX = GPIO 8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9600 8N1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926080"/>
            <a:ext cx="4480560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37744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RS485 bus (auto-direction transceiver)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15468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A ↔ A · B ↔ B · GND ↔ GND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2011680"/>
            <a:ext cx="2926080" cy="2011680"/>
          </a:xfrm>
          <a:prstGeom prst="rect">
            <a:avLst/>
          </a:prstGeom>
          <a:solidFill>
            <a:srgbClr val="387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148840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ESP32-C6 (mock slave)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606040"/>
            <a:ext cx="29260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DevKitC-1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UART1 TX = GPIO 4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UART1 RX = GPIO 5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Slave ID =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C6 holding registers (initial values):  [100, 200, 300, 400, 500, 600, 700, 800, 900, 1000]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Function codes supported by C6:  FC03 read holding, FC06 write single, FC16 write multiple, plus standard exception responses.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ESP32 Modbus Library Evaluation · Patthanan Bhandhumanee · 2026-05-14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Test cycle (same for every DUT)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Four steps, repeated forever with a 3 s pause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Function code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the DUT does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Pass condition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FC03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Read holding regs 0..4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Values are 100, 200, 300, 400,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FC06 write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Write reg 0 = 4242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Slave echoes the write frame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FC03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Read reg 0 again (verify T2)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Value is 4242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FC16 write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Write regs 0..2 = 100, 200, 300 (restore)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Slave acks; state is back to baseline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Each cycle ends with a serial line: "CYCLE SUMMARY: n/m PASS". Counters are global to that DUT firmware.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ESP32 Modbus Library Evaluation · Patthanan Bhandhumanee · 2026-05-14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10 candidates · per-project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How each library was actually exercised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Candidate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Rob2011/ESP32.Modbus-TCP-gateway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Arduino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Use emelianov/modbus-esp8266 ModbusRTU master directly.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vwetter/esp32-modbus-gateway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Arduino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vwetter has no Modbus library; DUT mirrors its raw HardwareSerial RTU.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zivillian/esp32-modbus-gateway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Arduino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Upstream PIO fails on Arduino core 3 (HTTP_GET clash); DUT uses the eModbus layer their gateway wraps.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harihanv/esp32-modbus-gateway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Arduino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ArduinoRS485 1.1.1 is unusable on ESP32; DUT uses raw RTU like harihanv's own code.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tobiasfaust/SolaxModbusGateway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Arduino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Solax modbus class is tied to LittleFS/MQTT/inverter; DUT mirrors their RS485 test sketch.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eModbus/eModbus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Arduino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Direct use of ModbusClientRTU, modeled on the upstream RTU04 example.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NamNamIoT/ESP32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Arduino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Their Modbus_RTU.ino uses 4-20ma/ModbusMaster; DUT mirrors it on Serial1.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maxx-ukoo/esp32-modbus-tcp2rtu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ESP-IDF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Full TCP↔RTU gateway needs SPIFFS / MQTT / WiFi. DUT runs the same esp-modbus path their modbus.c uses.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espressif/esp-modbus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ESP-IDF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Minimal app_main using mbc_master_send_request (FC3/FC6/FC16).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3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rosenrot00/esphome_modbus_bridge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ESPHome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Excluded from PlatformIO — ESPHome is its own toolchain; evaluate separately.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ESP32 Modbus Library Evaluation · Patthanan Bhandhumanee · 2026-05-14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PlatformIO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1 fixture + 7 Arduino DUTs + 2 ESP-IDF DUTs = 10 envs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Env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Library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esp32-c6-fixture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arduino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src/ESP32C6/main.cpp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raw RTU slave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dut_rob2011_arduino_s3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arduino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src/dut/rob2011/main.cpp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emelianov ModbusRTU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dut_vwetter_arduino_s3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arduino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src/dut/vwetter/main.cpp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raw HardwareSerial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dut_zivillian_arduino_s3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arduino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src/dut/zivillian/main.cpp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eModbus ModbusClientRTU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dut_harihanv_arduino_s3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arduino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src/dut/harihanv/main.cpp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raw HardwareSerial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dut_tobiasfaust_arduino_s3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arduino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src/dut/tobiasfaust/main.cpp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raw HardwareSerial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dut_emodbus_arduino_s3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arduino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src/dut/emodbus/main.cpp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eModbus (direct)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dut_namnam_iot_arduino_s3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arduino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src/dut/namnam_iot/main.cpp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4-20ma/ModbusMaster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dut_esp_modbus_espidf_s3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espidf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src/dut/esp_modbus/main.c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esp-modbus master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3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dut_maxx_ukoo_espidf_s3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espidf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src/dut/maxx_ukoo/main.c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esp-modbus (same lib)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ESP32 Modbus Library Evaluation · Patthanan Bhandhumanee · 2026-05-14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Build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10/10 environments produce a flashable firmware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Env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Flash (B)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Flash 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RAM (B)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RAM 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Build time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esp32-c6-fixture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8761D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252,882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13,852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≈ 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dut_rob2011_arduino_s3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8761D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310,437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9.9%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22,156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6.8%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≈ 9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dut_vwetter_arduino_s3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8761D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300,501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21,996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≈ 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dut_zivillian_arduino_s3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8761D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384,105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12.2%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22,932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≈ 14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dut_harihanv_arduino_s3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8761D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300,213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21,996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≈ 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dut_tobiasfaust_arduino_s3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8761D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300,157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9.5%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21,996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≈ 8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dut_emodbus_arduino_s3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8761D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384,033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22,940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≈ 12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dut_namnam_iot_arduino_s3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8761D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301,573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9.6%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22,292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6.8%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≈ 8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dut_esp_modbus_espidf_s3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8761D"/>
                          </a:solidFill>
                          <a:latin typeface="Calibri"/>
                        </a:rPr>
                        <a:t>SUCCESS*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269,553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14,448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≈ 49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dut_maxx_ukoo_espidf_s3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8761D"/>
                          </a:solidFill>
                          <a:latin typeface="Calibri"/>
                        </a:rPr>
                        <a:t>SUCCESS*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269,517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14,448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≈ 49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C0504D"/>
                </a:solidFill>
                <a:latin typeface="Calibri"/>
              </a:rPr>
              <a:t>*  ESP-IDF envs built from /tmp/modbus_eval_real to dodge the project-path whitespace bug.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ESP32 Modbus Library Evaluation · Patthanan Bhandhumanee · 2026-05-14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Resource usage — three clear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Why the numbers cluster the way they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657600" cy="548640"/>
          </a:xfrm>
          <a:prstGeom prst="rect">
            <a:avLst/>
          </a:prstGeom>
          <a:solidFill>
            <a:srgbClr val="387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07592"/>
            <a:ext cx="3657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Raw HardwareSerial (~300 KB)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3657600" cy="3931920"/>
          </a:xfrm>
          <a:prstGeom prst="rect">
            <a:avLst/>
          </a:prstGeom>
          <a:solidFill>
            <a:srgbClr val="F2F2F2"/>
          </a:solidFill>
          <a:ln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965960"/>
            <a:ext cx="3383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vwetter, harihanv, tobiasfaust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No Modbus library at all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Just Arduino baseline + tiny RTU helpers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≈ 21 996 B RAM, ≈ 300 KB flash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Honest representation of these candidates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80160"/>
            <a:ext cx="365760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307592"/>
            <a:ext cx="3657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Middleweight master libs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828800"/>
            <a:ext cx="3657600" cy="393192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965960"/>
            <a:ext cx="3383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rob2011 (emelianov), NamNamIoT (4-20ma ModbusMaster)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≈ 22 200 B RAM, ≈ 310 KB flash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Synchronous APIs, small footprint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About 10 KB above the Arduino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365760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307592"/>
            <a:ext cx="3657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Async / Pro stacks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657600" cy="3931920"/>
          </a:xfrm>
          <a:prstGeom prst="rect">
            <a:avLst/>
          </a:prstGeom>
          <a:solidFill>
            <a:srgbClr val="F2F2F2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965960"/>
            <a:ext cx="3383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zivillian, eModbus (both ModbusClientRTU)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≈ 22 900 B RAM, ≈ 384 KB flash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Background FreeRTOS worker task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+84 KB over baseline for async + queues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ESP-IDF envs use ≈ 270 KB / 14 KB — lighter startup than Arduino-on-IDF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ESP32 Modbus Library Evaluation · Patthanan Bhandhumanee · 2026-05-14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Excluded / known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Honest evaluation per PDF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rosenrot00/esphome_modbus_bridge — ESPHome only; not a PlatformIO framework. Evaluate with `esphome compile` against the same C6 fixture.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harihanv/esp32-modbus-gateway — Upstream ArduinoRS485 1.1.1 expects SERIAL_PORT_HARDWARE / A5 / A6; will not compile on ESP32-S3. DUT falls back to raw HardwareSerial, which is what the gateway itself uses.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zivillian/esp32-modbus-gateway — Upstream PIO project fails on Arduino core 3.x: HTTP_GET / HTTP_POST symbol clash between ESPAsyncWebServer fork and ESP-IDF http_parser. DUT exercises the eModbus layer their gateway sits on.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tobiasfaust/SolaxModbusGateway — `modbus` class is tied to LittleFS config, MQTT, and Solax inverter registers; not a reusable Arduino library. DUT mirrors their RS485 example.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maxx-ukoo/esp32-modbus-tcp2rtu — Full gateway needs an npm-built web SPIFFS, MQTT broker, and station-mode WiFi. Out of scope for an RS485-only rig. DUT runs the same esp-modbus path their modbus.c wraps.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pioarduino espidf builder bug — Unquoted `-fmacro-prefix-map=$PROJECT_DIR=.`; current project path has a space ("Senior Project"). Workaround: rsync the project to a no-space path before building the two ESP-IDF envs.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ESP32 Modbus Library Evaluation · Patthanan Bhandhumanee · 2026-05-14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Repo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Where to find each piece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Courier New"/>
              </a:rPr>
              <a:t>ESP32_c6_s3_modbus/                 # PIO project root (git)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├── README.md                       # entry doc: hardware, envs, results, flash plan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├── platformio.ini                  # 10 environments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├── CMakeLists.txt                  # ESP-IDF project root (used only by espidf envs)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├── docs/                           # generated outputs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│   ├── modbus_lib_eval_2026-05-11.pdf   # source survey rubric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│   ├── modbus_lib_eval_report.docx      # full hardware test report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│   ├── modbus_lib_eval_presentation.pptx  # this deck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│   └── evaluation_template.xlsx         # rubric + Build Results (PIO 2026-05-13) sheet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├── src/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│   ├── ESP32C6/main.cpp            # mock RTU slave fixture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│   ├── ESP32S3/main.cpp            # baseline raw-RTU master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│   ├── CMakeLists.txt              # IDF main component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│   └── dut/{rob2011, vwetter, zivillian, harihanv, tobiasfaust,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│             emodbus, namnam_iot, esp_modbus, maxx_ukoo}/main.{cpp,c}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└── lib/                            # 10 upstream candidate libraries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ESP32 Modbus Library Evaluation · Patthanan Bhandhumanee · 2026-05-14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to reproduce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PlatformIO Core 6.1.19 · pioarduino 55.3.38 · ESP-IDF 5.5.4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Courier New"/>
              </a:rPr>
              <a:t>1. Build all eight Arduino envs from the project root: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      pio run -e esp32-c6-fixture -e dut_rob2011_arduino_s3 \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             -e dut_vwetter_arduino_s3 -e dut_zivillian_arduino_s3 \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             -e dut_harihanv_arduino_s3 -e dut_tobiasfaust_arduino_s3 \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             -e dut_emodbus_arduino_s3 -e dut_namnam_iot_arduino_s3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2. Build the two ESP-IDF envs from a no-space path: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      rsync -a --delete --exclude='.pio' --exclude='.git' \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            &lt;project&gt; /tmp/modbus_eval_real/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      cd /tmp/modbus_eval_real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      pio run -e dut_esp_modbus_espidf_s3 -e dut_maxx_ukoo_espidf_s3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3. Flash the C6 fixture once, then flash each DUT env in turn and monitor: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      pio run -e esp32-c6-fixture --target upload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      pio run -e &lt;dut_env&gt;       --target upload &amp;&amp; pio device monitor -e &lt;dut_env&gt;</a:t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333333"/>
                </a:solidFill>
                <a:latin typeface="Courier New"/>
              </a:rPr>
              <a:t>4. Watch the serial monitor for "CYCLE SUMMARY: 4/4 PASS" per 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ESP32 Modbus Library Evaluation · Patthanan Bhandhumanee · 2026-05-14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Hardware test — PASS /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9 DUT envs · C6 mock slave · 2026-05-14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C6 fixture flashed once; each S3 DUT flashed in turn; 18 s serial capture each; 188 / 188 step results PASS across 47 cycles.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Env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Library exercised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dut_rob2011_arduino_s3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PASS 20/20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emelianov ModbusRTU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dut_vwetter_arduino_s3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PASS 20/20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raw RTU on HardwareSerial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dut_zivillian_arduino_s3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PASS 20/20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eModbus ModbusClientRTU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dut_harihanv_arduino_s3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PASS 24/24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raw RTU (ArduinoRS485 unusable on ESP32)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dut_tobiasfaust_arduino_s3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PASS 20/20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raw RTU (Solax lib not reusable)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dut_emodbus_arduino_s3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PASS 20/20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eModbus ModbusClientRTU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dut_namnam_iot_arduino_s3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PASS 20/20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4-20ma ModbusMaster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dut_esp_modbus_espidf_s3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PASS 24/24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esp-modbus mbc_master_send_request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dut_maxx_ukoo_espidf_s3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PASS 24/24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esp-modbus (path their gateway wraps)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Calibri"/>
              </a:rPr>
              <a:t>Every DUT exercised FC3 read · FC6 write · FC3 verify · FC16 restore with zero failed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ESP32 Modbus Library Evaluation · Patthanan Bhandhumanee · 2026-05-14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Round-trip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micros() / esp_timer_get_time() · 9600 8N1 · 31-32 samples/env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Wire-time floor @ 9600 8N1: FC3-1reg 19.3 ms · FC6 20.3 ms · FC16 26.6 ms · FC3-5regs 27.6 ms.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Env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rob2011 (emelianov sync)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27.97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33.39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29.97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39.97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39.97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vwetter (raw RTU)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22.16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27.90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24.16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34.16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34.16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zivillian (eModbus async)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32.88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28.99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132.34*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harihanv (raw RTU)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22.18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28.01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24.18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34.18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34.18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tobiasfaust (raw RTU)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22.15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27.73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24.16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34.16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34.16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emodbus (eModbus async)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24.00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30.25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26.00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36.00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36.00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namnam_iot (ModbusMaster)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19.16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24.45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esp_modbus (IDF)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22.28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27.97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27.54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34.14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34.27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maxx_ukoo  (IDF)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22.34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27.82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27.29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34.40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34.53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  <a:latin typeface="Calibri"/>
              </a:rPr>
              <a:t>All numbers in ms across all 4 steps.  *zivillian: one 132 ms first-cycle outlier (eModbus worker spin-up); steady-state matches emodbus.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ESP32 Modbus Library Evaluation · Patthanan Bhandhumanee · 2026-05-14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Latency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Why each library lands where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namnam_iot (4-20ma ModbusMaster) is wire-speed: 19.16 ms minimum on FC3-1reg matches the 19.3 ms theoretical floor. No extra polling, no quantization.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Raw-RTU sketches (vwetter, harihanv, tobiasfaust) cluster ~3 ms above wire-time. The 4 ms FRAME_GAP_MS silence detector accounts for the overhead.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ESP-IDF esp-modbus (esp_modbus, maxx_ukoo) matches raw-RTU within noise (22-34 ms). Official Espressif library runs at wire-speed despite a separate FreeRTOS controller task.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eModbus envs (emodbus, zivillian) add ~2 ms per step from the 2 ms delay(2) result poll. All completions quantize to even-ms boundaries (24/26/36 ms).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rob2011 (emelianov sync) is the slowest, ~6-8 ms over wire-time. mb.task() polls in 2 ms ticks with an extra 1 ms internal quantum, giving the clean 28/30/36/40 ms steps.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Single 132 ms outlier on zivillian first cycle = eModbus worker task scheduling delay right after begin(). Subsequent cycles match emodbus exactly.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ESP32 Modbus Library Evaluation · Patthanan Bhandhumanee · 2026-05-14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What we learned · 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Nine of ten candidates from the PDF rubric evaluated end-to-end on real hardware through PlatformIO.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Framework-compatibility verdicts concrete: ESP-IDF (esp-modbus, maxx-ukoo), Arduino-ESP32 (the rest), ESPHome-only (rosenrot00).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Resource numbers separate into three groups: raw-RTU baseline, middleweight master libs, async/eModbus stacks.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All 9 DUTs pass 188/188 functional steps; round-trip latency measured 19-40 ms covering wire-speed, raw, eModbus-async, and emelianov-sync regimes.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Upstream build blockers identified: zivillian HTTP_GET, harihanv ArduinoRS485 — both documented with working replacements.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Automated serial-port harness scraping CYCLE SUMMARY + [us=N] into the XLSX.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Run rosenrot00 ESPHome candidate via esphome compile against the same C6 fixture.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Extend cycle to FC01/FC02/FC04/FC05/FC15 plus exception responses.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Higher baud rate sweep (19200, 38400, 115200) to separate library overhead from wire-time.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Calibri"/>
              </a:rPr>
              <a:t>ESP32 Modbus Library Evaluation · Patthanan Bhandhumanee · 2026-05-14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