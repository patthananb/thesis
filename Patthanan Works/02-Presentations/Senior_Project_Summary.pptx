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846"/>
    <p:restoredTop sz="94610"/>
  </p:normalViewPr>
  <p:slideViewPr>
    <p:cSldViewPr snapToGrid="0" snapToObjects="1">
      <p:cViewPr varScale="1">
        <p:scale>
          <a:sx n="245" d="100"/>
          <a:sy n="245" d="100"/>
        </p:scale>
        <p:origin x="10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8057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1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7.png"/><Relationship Id="rId5" Type="http://schemas.openxmlformats.org/officeDocument/2006/relationships/image" Target="../media/image9.png"/><Relationship Id="rId15" Type="http://schemas.openxmlformats.org/officeDocument/2006/relationships/image" Target="../media/image16.png"/><Relationship Id="rId10" Type="http://schemas.openxmlformats.org/officeDocument/2006/relationships/image" Target="../media/image5.png"/><Relationship Id="rId4" Type="http://schemas.openxmlformats.org/officeDocument/2006/relationships/image" Target="../media/image10.png"/><Relationship Id="rId9" Type="http://schemas.openxmlformats.org/officeDocument/2006/relationships/image" Target="../media/image4.png"/><Relationship Id="rId1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188720"/>
            <a:ext cx="8229600" cy="36576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Project Progress Summary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23113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IoT Systems  ·  MQTT / Modbus / TIG Stack  ·  Real-Time Web Dashboard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633472"/>
            <a:ext cx="8229600" cy="22860"/>
          </a:xfrm>
          <a:prstGeom prst="rect">
            <a:avLst/>
          </a:prstGeom>
          <a:solidFill>
            <a:srgbClr val="C8CDD4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457200" y="281635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Patthannan B.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1455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 Dr. Rawat  |  May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9776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used:</a:t>
            </a:r>
            <a:endParaRPr lang="en-US" sz="9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251960"/>
            <a:ext cx="347472" cy="347472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9888" y="4251960"/>
            <a:ext cx="347472" cy="347472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2576" y="4251960"/>
            <a:ext cx="347472" cy="347472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5264" y="4251960"/>
            <a:ext cx="347472" cy="347472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87952" y="4251960"/>
            <a:ext cx="347472" cy="347472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0640" y="4251960"/>
            <a:ext cx="347472" cy="347472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53328" y="4251960"/>
            <a:ext cx="347472" cy="347472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86016" y="4251960"/>
            <a:ext cx="347472" cy="347472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18704" y="4251960"/>
            <a:ext cx="347472" cy="347472"/>
          </a:xfrm>
          <a:prstGeom prst="rect">
            <a:avLst/>
          </a:prstGeom>
        </p:spPr>
      </p:pic>
      <p:sp>
        <p:nvSpPr>
          <p:cNvPr id="18" name="Shape 7"/>
          <p:cNvSpPr/>
          <p:nvPr/>
        </p:nvSpPr>
        <p:spPr>
          <a:xfrm>
            <a:off x="0" y="4736592"/>
            <a:ext cx="9144000" cy="22860"/>
          </a:xfrm>
          <a:prstGeom prst="rect">
            <a:avLst/>
          </a:prstGeom>
          <a:solidFill>
            <a:srgbClr val="C8CDD4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Text 8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github.com/patthananb/Lab_network_monitoring   ·   github.com/patthananb/IoT-sniffer</a:t>
            </a:r>
            <a:endParaRPr lang="en-US" sz="1000" dirty="0"/>
          </a:p>
        </p:txBody>
      </p:sp>
      <p:sp>
        <p:nvSpPr>
          <p:cNvPr id="20" name="Text 9"/>
          <p:cNvSpPr/>
          <p:nvPr/>
        </p:nvSpPr>
        <p:spPr>
          <a:xfrm>
            <a:off x="8321040" y="491947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40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2860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457200" y="886968"/>
            <a:ext cx="406908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457200" y="886968"/>
            <a:ext cx="54864" cy="4069080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9601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978408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Weather Station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58368" y="1316736"/>
            <a:ext cx="3749040" cy="16459"/>
          </a:xfrm>
          <a:prstGeom prst="rect">
            <a:avLst/>
          </a:prstGeom>
          <a:solidFill>
            <a:srgbClr val="C8CDD4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Text 6"/>
          <p:cNvSpPr/>
          <p:nvPr/>
        </p:nvSpPr>
        <p:spPr>
          <a:xfrm>
            <a:off x="658368" y="1380744"/>
            <a:ext cx="3749040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 Firmware (PlatformIO)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XY-MD02 temp/humidity + SDM120 power via RS485 Modbus RTU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Publisher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telemetry → Mosquitto broker on Raspberry Pi 4 (2GB)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TCP Slave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holding registers on port 502 — IEEE754 float pairs for all power fields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 Stack on Raspberry Pi 4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Dockerized Telegraf + InfluxDB + Grafana dashboards + 7" kiosk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590288"/>
            <a:ext cx="256032" cy="256032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590288"/>
            <a:ext cx="256032" cy="256032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3312" y="4590288"/>
            <a:ext cx="256032" cy="256032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0784" y="4590288"/>
            <a:ext cx="256032" cy="256032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48256" y="4590288"/>
            <a:ext cx="256032" cy="256032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4709160" y="886968"/>
            <a:ext cx="406908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Shape 8"/>
          <p:cNvSpPr/>
          <p:nvPr/>
        </p:nvSpPr>
        <p:spPr>
          <a:xfrm>
            <a:off x="4709160" y="886968"/>
            <a:ext cx="54864" cy="4069080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0328" y="960120"/>
            <a:ext cx="274320" cy="274320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48656" y="960120"/>
            <a:ext cx="274320" cy="27432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5614416" y="978408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Services</a:t>
            </a:r>
            <a:endParaRPr lang="en-US" sz="1400" dirty="0"/>
          </a:p>
        </p:txBody>
      </p:sp>
      <p:sp>
        <p:nvSpPr>
          <p:cNvPr id="20" name="Shape 10"/>
          <p:cNvSpPr/>
          <p:nvPr/>
        </p:nvSpPr>
        <p:spPr>
          <a:xfrm>
            <a:off x="4910328" y="1316736"/>
            <a:ext cx="3749040" cy="16459"/>
          </a:xfrm>
          <a:prstGeom prst="rect">
            <a:avLst/>
          </a:prstGeom>
          <a:solidFill>
            <a:srgbClr val="C8CDD4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Text 11"/>
          <p:cNvSpPr/>
          <p:nvPr/>
        </p:nvSpPr>
        <p:spPr>
          <a:xfrm>
            <a:off x="4910328" y="1380744"/>
            <a:ext cx="3749040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Sniffer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 on RPi4 — captures &amp; decodes Modbus TCP, MQTT/TCP, MQTT/WS via Python + scapy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Views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inspector, 3 connection graph views (Sequence/Topology/Matrix), p50/p95/p99 + CDF + jitter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Packet Generator (sim.jsx)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Synthesizes realistic Modbus TCP + MQTT traffic for testing and demos without live hardware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Pipeline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36-test pytest suite: BPF filter, frame formatters, summary renderer, pcap replay end-to-end</a:t>
            </a:r>
            <a:endParaRPr lang="en-US" sz="12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0328" y="4590288"/>
            <a:ext cx="256032" cy="256032"/>
          </a:xfrm>
          <a:prstGeom prst="rect">
            <a:avLst/>
          </a:prstGeom>
        </p:spPr>
      </p:pic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57800" y="4590288"/>
            <a:ext cx="256032" cy="256032"/>
          </a:xfrm>
          <a:prstGeom prst="rect">
            <a:avLst/>
          </a:prstGeom>
        </p:spPr>
      </p:pic>
      <p:pic>
        <p:nvPicPr>
          <p:cNvPr id="24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05272" y="4590288"/>
            <a:ext cx="256032" cy="256032"/>
          </a:xfrm>
          <a:prstGeom prst="rect">
            <a:avLst/>
          </a:prstGeom>
        </p:spPr>
      </p:pic>
      <p:pic>
        <p:nvPicPr>
          <p:cNvPr id="25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52744" y="4590288"/>
            <a:ext cx="256032" cy="256032"/>
          </a:xfrm>
          <a:prstGeom prst="rect">
            <a:avLst/>
          </a:prstGeom>
        </p:spPr>
      </p:pic>
      <p:pic>
        <p:nvPicPr>
          <p:cNvPr id="26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0216" y="4590288"/>
            <a:ext cx="256032" cy="256032"/>
          </a:xfrm>
          <a:prstGeom prst="rect">
            <a:avLst/>
          </a:prstGeom>
        </p:spPr>
      </p:pic>
      <p:sp>
        <p:nvSpPr>
          <p:cNvPr id="27" name="Text 12"/>
          <p:cNvSpPr/>
          <p:nvPr/>
        </p:nvSpPr>
        <p:spPr>
          <a:xfrm>
            <a:off x="8321040" y="491947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2C18BD0-8449-6738-0F65-AEF535C984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04"/>
          <a:stretch>
            <a:fillRect/>
          </a:stretch>
        </p:blipFill>
        <p:spPr>
          <a:xfrm>
            <a:off x="694481" y="139343"/>
            <a:ext cx="7755038" cy="48648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3FB056-BA44-BDCA-A541-E13DE68058F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79" t="15635" r="3525" b="14268"/>
          <a:stretch>
            <a:fillRect/>
          </a:stretch>
        </p:blipFill>
        <p:spPr>
          <a:xfrm>
            <a:off x="2176990" y="992462"/>
            <a:ext cx="950673" cy="715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855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40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Weather Station — Hardware &amp; Firmware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2860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3931920" cy="566928"/>
          </a:xfrm>
          <a:prstGeom prst="rect">
            <a:avLst/>
          </a:prstGeom>
          <a:solidFill>
            <a:srgbClr val="F5F6F8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54864" cy="566928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32110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50976" y="131673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15361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Waveshare relay board — WiFi, USB CDC on Boot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1920240"/>
            <a:ext cx="3931920" cy="566928"/>
          </a:xfrm>
          <a:prstGeom prst="rect">
            <a:avLst/>
          </a:prstGeom>
          <a:solidFill>
            <a:srgbClr val="F5F6F8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Shape 8"/>
          <p:cNvSpPr/>
          <p:nvPr/>
        </p:nvSpPr>
        <p:spPr>
          <a:xfrm>
            <a:off x="457200" y="1920240"/>
            <a:ext cx="54864" cy="566928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Text 9"/>
          <p:cNvSpPr/>
          <p:nvPr/>
        </p:nvSpPr>
        <p:spPr>
          <a:xfrm>
            <a:off x="640080" y="1975104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XY-MD02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" y="2194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RS485 Modbus RTU — temperature &amp; humidity sensor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" y="2578608"/>
            <a:ext cx="3931920" cy="566928"/>
          </a:xfrm>
          <a:prstGeom prst="rect">
            <a:avLst/>
          </a:prstGeom>
          <a:solidFill>
            <a:srgbClr val="F5F6F8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Shape 12"/>
          <p:cNvSpPr/>
          <p:nvPr/>
        </p:nvSpPr>
        <p:spPr>
          <a:xfrm>
            <a:off x="457200" y="2578608"/>
            <a:ext cx="54864" cy="566928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3"/>
          <p:cNvSpPr/>
          <p:nvPr/>
        </p:nvSpPr>
        <p:spPr>
          <a:xfrm>
            <a:off x="640080" y="2633472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Eastron SDM120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" y="28529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RS485 Modbus RTU — single-phase power meter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57200" y="3236976"/>
            <a:ext cx="3931920" cy="566928"/>
          </a:xfrm>
          <a:prstGeom prst="rect">
            <a:avLst/>
          </a:prstGeom>
          <a:solidFill>
            <a:srgbClr val="F5F6F8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Shape 16"/>
          <p:cNvSpPr/>
          <p:nvPr/>
        </p:nvSpPr>
        <p:spPr>
          <a:xfrm>
            <a:off x="457200" y="3236976"/>
            <a:ext cx="54864" cy="566928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3268772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950976" y="329184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LOGO! 8.4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40080" y="35112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— Modbus TCP slave in lab network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457200" y="3895344"/>
            <a:ext cx="3931920" cy="566928"/>
          </a:xfrm>
          <a:prstGeom prst="rect">
            <a:avLst/>
          </a:prstGeom>
          <a:solidFill>
            <a:srgbClr val="F5F6F8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4" name="Shape 20"/>
          <p:cNvSpPr/>
          <p:nvPr/>
        </p:nvSpPr>
        <p:spPr>
          <a:xfrm>
            <a:off x="457200" y="3895344"/>
            <a:ext cx="54864" cy="566928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3954574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950976" y="395020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4 (2GB)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40080" y="4169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Host: Mosquitto + TIG stack + IoT Sniffer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4572000" y="914400"/>
            <a:ext cx="18288" cy="4114800"/>
          </a:xfrm>
          <a:prstGeom prst="rect">
            <a:avLst/>
          </a:prstGeom>
          <a:solidFill>
            <a:srgbClr val="C8CDD4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9" name="Text 24"/>
          <p:cNvSpPr/>
          <p:nvPr/>
        </p:nvSpPr>
        <p:spPr>
          <a:xfrm>
            <a:off x="4754880" y="93268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Capabilities  (C++ / PlatformIO)</a:t>
            </a:r>
            <a:endParaRPr lang="en-US" sz="13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896112"/>
            <a:ext cx="310896" cy="310896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4754880" y="1261872"/>
            <a:ext cx="4160520" cy="566928"/>
          </a:xfrm>
          <a:prstGeom prst="rect">
            <a:avLst/>
          </a:prstGeom>
          <a:solidFill>
            <a:srgbClr val="F5F6F8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2" name="Shape 26"/>
          <p:cNvSpPr/>
          <p:nvPr/>
        </p:nvSpPr>
        <p:spPr>
          <a:xfrm>
            <a:off x="4754880" y="1261872"/>
            <a:ext cx="54864" cy="566928"/>
          </a:xfrm>
          <a:prstGeom prst="rect">
            <a:avLst/>
          </a:prstGeom>
          <a:solidFill>
            <a:srgbClr val="2563A4"/>
          </a:solidFill>
          <a:ln w="12700">
            <a:solidFill>
              <a:srgbClr val="2563A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3" name="Text 27"/>
          <p:cNvSpPr/>
          <p:nvPr/>
        </p:nvSpPr>
        <p:spPr>
          <a:xfrm>
            <a:off x="4937760" y="131673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RTU Master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4937760" y="153619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Polls XY-MD02 &amp; SDM120 over RS485 every cycle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4754880" y="1920240"/>
            <a:ext cx="4160520" cy="566928"/>
          </a:xfrm>
          <a:prstGeom prst="rect">
            <a:avLst/>
          </a:prstGeom>
          <a:solidFill>
            <a:srgbClr val="F5F6F8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6" name="Shape 30"/>
          <p:cNvSpPr/>
          <p:nvPr/>
        </p:nvSpPr>
        <p:spPr>
          <a:xfrm>
            <a:off x="4754880" y="1920240"/>
            <a:ext cx="54864" cy="566928"/>
          </a:xfrm>
          <a:prstGeom prst="rect">
            <a:avLst/>
          </a:prstGeom>
          <a:solidFill>
            <a:srgbClr val="2563A4"/>
          </a:solidFill>
          <a:ln w="12700">
            <a:solidFill>
              <a:srgbClr val="2563A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7" name="Text 31"/>
          <p:cNvSpPr/>
          <p:nvPr/>
        </p:nvSpPr>
        <p:spPr>
          <a:xfrm>
            <a:off x="4937760" y="197510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Publisher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4937760" y="219456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JSON to Mosquitto at esp32s3-weather.local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4754880" y="2578608"/>
            <a:ext cx="4160520" cy="566928"/>
          </a:xfrm>
          <a:prstGeom prst="rect">
            <a:avLst/>
          </a:prstGeom>
          <a:solidFill>
            <a:srgbClr val="F5F6F8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0" name="Shape 34"/>
          <p:cNvSpPr/>
          <p:nvPr/>
        </p:nvSpPr>
        <p:spPr>
          <a:xfrm>
            <a:off x="4754880" y="2578608"/>
            <a:ext cx="54864" cy="566928"/>
          </a:xfrm>
          <a:prstGeom prst="rect">
            <a:avLst/>
          </a:prstGeom>
          <a:solidFill>
            <a:srgbClr val="2563A4"/>
          </a:solidFill>
          <a:ln w="12700">
            <a:solidFill>
              <a:srgbClr val="2563A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1" name="Text 35"/>
          <p:cNvSpPr/>
          <p:nvPr/>
        </p:nvSpPr>
        <p:spPr>
          <a:xfrm>
            <a:off x="4937760" y="263347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TCP Slave</a:t>
            </a:r>
            <a:endParaRPr lang="en-US" sz="1200" dirty="0"/>
          </a:p>
        </p:txBody>
      </p:sp>
      <p:sp>
        <p:nvSpPr>
          <p:cNvPr id="42" name="Text 36"/>
          <p:cNvSpPr/>
          <p:nvPr/>
        </p:nvSpPr>
        <p:spPr>
          <a:xfrm>
            <a:off x="4937760" y="285292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holding registers on port 502 — IEEE754 float pairs</a:t>
            </a:r>
            <a:endParaRPr lang="en-US" sz="1050" dirty="0"/>
          </a:p>
        </p:txBody>
      </p:sp>
      <p:sp>
        <p:nvSpPr>
          <p:cNvPr id="43" name="Shape 37"/>
          <p:cNvSpPr/>
          <p:nvPr/>
        </p:nvSpPr>
        <p:spPr>
          <a:xfrm>
            <a:off x="4754880" y="3236976"/>
            <a:ext cx="4160520" cy="566928"/>
          </a:xfrm>
          <a:prstGeom prst="rect">
            <a:avLst/>
          </a:prstGeom>
          <a:solidFill>
            <a:srgbClr val="F5F6F8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4" name="Shape 38"/>
          <p:cNvSpPr/>
          <p:nvPr/>
        </p:nvSpPr>
        <p:spPr>
          <a:xfrm>
            <a:off x="4754880" y="3236976"/>
            <a:ext cx="54864" cy="566928"/>
          </a:xfrm>
          <a:prstGeom prst="rect">
            <a:avLst/>
          </a:prstGeom>
          <a:solidFill>
            <a:srgbClr val="2563A4"/>
          </a:solidFill>
          <a:ln w="12700">
            <a:solidFill>
              <a:srgbClr val="2563A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5" name="Text 39"/>
          <p:cNvSpPr/>
          <p:nvPr/>
        </p:nvSpPr>
        <p:spPr>
          <a:xfrm>
            <a:off x="4937760" y="329184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mDNS Discovery</a:t>
            </a:r>
            <a:endParaRPr lang="en-US" sz="1200" dirty="0"/>
          </a:p>
        </p:txBody>
      </p:sp>
      <p:sp>
        <p:nvSpPr>
          <p:cNvPr id="46" name="Text 40"/>
          <p:cNvSpPr/>
          <p:nvPr/>
        </p:nvSpPr>
        <p:spPr>
          <a:xfrm>
            <a:off x="4937760" y="351129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Broadcasts esp32s3-weather.local for zero-config LAN access</a:t>
            </a:r>
            <a:endParaRPr lang="en-US" sz="1050" dirty="0"/>
          </a:p>
        </p:txBody>
      </p:sp>
      <p:sp>
        <p:nvSpPr>
          <p:cNvPr id="47" name="Shape 41"/>
          <p:cNvSpPr/>
          <p:nvPr/>
        </p:nvSpPr>
        <p:spPr>
          <a:xfrm>
            <a:off x="4754880" y="3895344"/>
            <a:ext cx="4160520" cy="566928"/>
          </a:xfrm>
          <a:prstGeom prst="rect">
            <a:avLst/>
          </a:prstGeom>
          <a:solidFill>
            <a:srgbClr val="F5F6F8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8" name="Shape 42"/>
          <p:cNvSpPr/>
          <p:nvPr/>
        </p:nvSpPr>
        <p:spPr>
          <a:xfrm>
            <a:off x="4754880" y="3895344"/>
            <a:ext cx="54864" cy="566928"/>
          </a:xfrm>
          <a:prstGeom prst="rect">
            <a:avLst/>
          </a:prstGeom>
          <a:solidFill>
            <a:srgbClr val="2563A4"/>
          </a:solidFill>
          <a:ln w="12700">
            <a:solidFill>
              <a:srgbClr val="2563A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9" name="Text 43"/>
          <p:cNvSpPr/>
          <p:nvPr/>
        </p:nvSpPr>
        <p:spPr>
          <a:xfrm>
            <a:off x="4937760" y="3950208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Footprint</a:t>
            </a:r>
            <a:endParaRPr lang="en-US" sz="1200" dirty="0"/>
          </a:p>
        </p:txBody>
      </p:sp>
      <p:sp>
        <p:nvSpPr>
          <p:cNvPr id="50" name="Text 44"/>
          <p:cNvSpPr/>
          <p:nvPr/>
        </p:nvSpPr>
        <p:spPr>
          <a:xfrm>
            <a:off x="4937760" y="416966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946 KB / 1310 KB (72%)   ·   RAM 48.5 KB / 328 KB (15%)</a:t>
            </a:r>
            <a:endParaRPr lang="en-US" sz="1050" dirty="0"/>
          </a:p>
        </p:txBody>
      </p:sp>
      <p:sp>
        <p:nvSpPr>
          <p:cNvPr id="51" name="Text 45"/>
          <p:cNvSpPr/>
          <p:nvPr/>
        </p:nvSpPr>
        <p:spPr>
          <a:xfrm>
            <a:off x="8321040" y="491947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40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Broker &amp; TIG Stack — Raspberry Pi 4 (2GB)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2860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822960"/>
            <a:ext cx="256032" cy="2560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1115568"/>
            <a:ext cx="1389888" cy="475488"/>
          </a:xfrm>
          <a:prstGeom prst="rect">
            <a:avLst/>
          </a:prstGeom>
          <a:solidFill>
            <a:srgbClr val="F5F6F8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Text 3"/>
          <p:cNvSpPr/>
          <p:nvPr/>
        </p:nvSpPr>
        <p:spPr>
          <a:xfrm>
            <a:off x="320040" y="1115568"/>
            <a:ext cx="1389888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Node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719072" y="125272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</a:rPr>
              <a:t>→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9736" y="822960"/>
            <a:ext cx="256032" cy="25603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892808" y="1115568"/>
            <a:ext cx="1389888" cy="475488"/>
          </a:xfrm>
          <a:prstGeom prst="rect">
            <a:avLst/>
          </a:prstGeom>
          <a:solidFill>
            <a:srgbClr val="F5F6F8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Text 6"/>
          <p:cNvSpPr/>
          <p:nvPr/>
        </p:nvSpPr>
        <p:spPr>
          <a:xfrm>
            <a:off x="1892808" y="1115568"/>
            <a:ext cx="1389888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Mosquitto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Broker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291840" y="125272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</a:rPr>
              <a:t>→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2504" y="822960"/>
            <a:ext cx="256032" cy="25603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465576" y="1115568"/>
            <a:ext cx="1389888" cy="475488"/>
          </a:xfrm>
          <a:prstGeom prst="rect">
            <a:avLst/>
          </a:prstGeom>
          <a:solidFill>
            <a:srgbClr val="F5F6F8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 9"/>
          <p:cNvSpPr/>
          <p:nvPr/>
        </p:nvSpPr>
        <p:spPr>
          <a:xfrm>
            <a:off x="3465576" y="1115568"/>
            <a:ext cx="1389888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Telegraf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4864608" y="125272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</a:rPr>
              <a:t>→</a:t>
            </a:r>
            <a:endParaRPr lang="en-US" sz="12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5272" y="822960"/>
            <a:ext cx="256032" cy="25603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038344" y="1115568"/>
            <a:ext cx="1389888" cy="475488"/>
          </a:xfrm>
          <a:prstGeom prst="rect">
            <a:avLst/>
          </a:prstGeom>
          <a:solidFill>
            <a:srgbClr val="F5F6F8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Text 12"/>
          <p:cNvSpPr/>
          <p:nvPr/>
        </p:nvSpPr>
        <p:spPr>
          <a:xfrm>
            <a:off x="5038344" y="1115568"/>
            <a:ext cx="1389888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InfluxDB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6437376" y="125272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</a:rPr>
              <a:t>→</a:t>
            </a:r>
            <a:endParaRPr lang="en-US" sz="12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040" y="822960"/>
            <a:ext cx="256032" cy="256032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611112" y="1115568"/>
            <a:ext cx="1389888" cy="475488"/>
          </a:xfrm>
          <a:prstGeom prst="rect">
            <a:avLst/>
          </a:prstGeom>
          <a:solidFill>
            <a:srgbClr val="F5F6F8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Text 15"/>
          <p:cNvSpPr/>
          <p:nvPr/>
        </p:nvSpPr>
        <p:spPr>
          <a:xfrm>
            <a:off x="6611112" y="1115568"/>
            <a:ext cx="1389888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1371600" y="16459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 Dockerized on Raspberry Pi 4 (2GB)  ·  Uptime: 3+ days  ·  Load avg: 0.44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320040" y="1920240"/>
            <a:ext cx="2798064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Shape 18"/>
          <p:cNvSpPr/>
          <p:nvPr/>
        </p:nvSpPr>
        <p:spPr>
          <a:xfrm>
            <a:off x="320040" y="1920240"/>
            <a:ext cx="54864" cy="1463040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" y="1975104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58952" y="19933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Mosquitto MQTT Broker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448056" y="2267712"/>
            <a:ext cx="2542032" cy="13716"/>
          </a:xfrm>
          <a:prstGeom prst="rect">
            <a:avLst/>
          </a:prstGeom>
          <a:solidFill>
            <a:srgbClr val="C8CDD4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9" name="Text 21"/>
          <p:cNvSpPr/>
          <p:nvPr/>
        </p:nvSpPr>
        <p:spPr>
          <a:xfrm>
            <a:off x="448056" y="2286000"/>
            <a:ext cx="25420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eclipse-mosquitto:2.0  |  LAN only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1883 (MQTT/TCP)  ·  Port 9001 (MQTT/WS)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publishes temperature, humidity, power_voltage, power_current, power_watts, power_factor, power_frequency, power_energy_kwh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Telegraf subscribes and writes to InfluxDB</a:t>
            </a:r>
            <a:endParaRPr lang="en-US" sz="850" dirty="0"/>
          </a:p>
        </p:txBody>
      </p:sp>
      <p:sp>
        <p:nvSpPr>
          <p:cNvPr id="30" name="Shape 22"/>
          <p:cNvSpPr/>
          <p:nvPr/>
        </p:nvSpPr>
        <p:spPr>
          <a:xfrm>
            <a:off x="3246120" y="1920240"/>
            <a:ext cx="2798064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1" name="Shape 23"/>
          <p:cNvSpPr/>
          <p:nvPr/>
        </p:nvSpPr>
        <p:spPr>
          <a:xfrm>
            <a:off x="3246120" y="1920240"/>
            <a:ext cx="54864" cy="1463040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4136" y="1975104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3685032" y="19933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InfluxDB + Telegraf</a:t>
            </a:r>
            <a:endParaRPr lang="en-US" sz="1100" dirty="0"/>
          </a:p>
        </p:txBody>
      </p:sp>
      <p:sp>
        <p:nvSpPr>
          <p:cNvPr id="34" name="Shape 25"/>
          <p:cNvSpPr/>
          <p:nvPr/>
        </p:nvSpPr>
        <p:spPr>
          <a:xfrm>
            <a:off x="3374136" y="2267712"/>
            <a:ext cx="2542032" cy="13716"/>
          </a:xfrm>
          <a:prstGeom prst="rect">
            <a:avLst/>
          </a:prstGeom>
          <a:solidFill>
            <a:srgbClr val="C8CDD4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5" name="Text 26"/>
          <p:cNvSpPr/>
          <p:nvPr/>
        </p:nvSpPr>
        <p:spPr>
          <a:xfrm>
            <a:off x="3374136" y="2286000"/>
            <a:ext cx="25420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influxdb:2.7  |  Port 8086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telegraf:1.28  |  internal only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Buckets: sensors, internet_speed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system metrics: CPU, RAM, Disk, Temp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Speedtest every 5 min: DL/UL/latency/jitter</a:t>
            </a:r>
            <a:endParaRPr lang="en-US" sz="850" dirty="0"/>
          </a:p>
        </p:txBody>
      </p:sp>
      <p:sp>
        <p:nvSpPr>
          <p:cNvPr id="36" name="Shape 27"/>
          <p:cNvSpPr/>
          <p:nvPr/>
        </p:nvSpPr>
        <p:spPr>
          <a:xfrm>
            <a:off x="6172200" y="1920240"/>
            <a:ext cx="2798064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7" name="Shape 28"/>
          <p:cNvSpPr/>
          <p:nvPr/>
        </p:nvSpPr>
        <p:spPr>
          <a:xfrm>
            <a:off x="6172200" y="1920240"/>
            <a:ext cx="54864" cy="1463040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0216" y="1975104"/>
            <a:ext cx="237744" cy="237744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6912864" y="1979477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+ Node-RED</a:t>
            </a:r>
            <a:endParaRPr lang="en-US" sz="1100" dirty="0"/>
          </a:p>
        </p:txBody>
      </p:sp>
      <p:sp>
        <p:nvSpPr>
          <p:cNvPr id="40" name="Shape 30"/>
          <p:cNvSpPr/>
          <p:nvPr/>
        </p:nvSpPr>
        <p:spPr>
          <a:xfrm>
            <a:off x="6300216" y="2267712"/>
            <a:ext cx="2542032" cy="13716"/>
          </a:xfrm>
          <a:prstGeom prst="rect">
            <a:avLst/>
          </a:prstGeom>
          <a:solidFill>
            <a:srgbClr val="C8CDD4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1" name="Text 31"/>
          <p:cNvSpPr/>
          <p:nvPr/>
        </p:nvSpPr>
        <p:spPr>
          <a:xfrm>
            <a:off x="6300216" y="2286000"/>
            <a:ext cx="25420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grafana/grafana:13.0.1  |  Port 3000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nodered/node-red  |  healthy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Grafana: weather, power, networking, Pi dashboards + 7" kiosk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Node-RED: automation &amp; flow logic</a:t>
            </a:r>
            <a:endParaRPr lang="en-US" sz="850" dirty="0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2824" y="1975104"/>
            <a:ext cx="237744" cy="237744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457200" y="3456432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Docker Containers on raspberrypi4  (all Up 3+ days)</a:t>
            </a:r>
            <a:endParaRPr lang="en-US" sz="1100" dirty="0"/>
          </a:p>
        </p:txBody>
      </p:sp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05151" y="3419856"/>
            <a:ext cx="256032" cy="256032"/>
          </a:xfrm>
          <a:prstGeom prst="rect">
            <a:avLst/>
          </a:prstGeom>
        </p:spPr>
      </p:pic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6047" y="3419856"/>
            <a:ext cx="256032" cy="256032"/>
          </a:xfrm>
          <a:prstGeom prst="rect">
            <a:avLst/>
          </a:prstGeom>
        </p:spPr>
      </p:pic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12464"/>
          <a:ext cx="8229600" cy="141732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Port(s)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B3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mosquitto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eclipse-mosquitto:2.0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1883 (TCP), 9001 (WS)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B3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telegraf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telegraf:1.28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B3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influxdb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influxdb:2.7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8086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B3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grafana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grafana/grafana:13.0.1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B3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nodered/node-red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563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7" name="Text 33"/>
          <p:cNvSpPr/>
          <p:nvPr/>
        </p:nvSpPr>
        <p:spPr>
          <a:xfrm>
            <a:off x="8321040" y="491947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40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Telegraf vs Node-RED — MQTT Data Flow Comparison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2860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tools subscribe to Mosquitto in this project but serve fundamentally different roles. Telegraf is a purpose-built metric collection agent; Node-RED is a visual flow-programming runtime.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78608" y="1225296"/>
            <a:ext cx="2852928" cy="384048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128930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62656" y="1225296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Telegraf 1.28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541264" y="1225296"/>
            <a:ext cx="3145536" cy="384048"/>
          </a:xfrm>
          <a:prstGeom prst="rect">
            <a:avLst/>
          </a:prstGeom>
          <a:solidFill>
            <a:srgbClr val="2563A4"/>
          </a:solidFill>
          <a:ln w="12700">
            <a:solidFill>
              <a:srgbClr val="2563A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416" y="128930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25312" y="1225296"/>
            <a:ext cx="2706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1645920"/>
            <a:ext cx="20848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Text 8"/>
          <p:cNvSpPr/>
          <p:nvPr/>
        </p:nvSpPr>
        <p:spPr>
          <a:xfrm>
            <a:off x="512064" y="1645920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role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578608" y="1645920"/>
            <a:ext cx="285292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 10"/>
          <p:cNvSpPr/>
          <p:nvPr/>
        </p:nvSpPr>
        <p:spPr>
          <a:xfrm>
            <a:off x="2633472" y="16459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collection agent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541264" y="1645920"/>
            <a:ext cx="314553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2"/>
          <p:cNvSpPr/>
          <p:nvPr/>
        </p:nvSpPr>
        <p:spPr>
          <a:xfrm>
            <a:off x="5596128" y="1645920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flow-programming runtime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57200" y="2048256"/>
            <a:ext cx="2084832" cy="384048"/>
          </a:xfrm>
          <a:prstGeom prst="rect">
            <a:avLst/>
          </a:prstGeom>
          <a:solidFill>
            <a:srgbClr val="F5F6F8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Text 14"/>
          <p:cNvSpPr/>
          <p:nvPr/>
        </p:nvSpPr>
        <p:spPr>
          <a:xfrm>
            <a:off x="512064" y="2048256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role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2578608" y="2048256"/>
            <a:ext cx="2852928" cy="384048"/>
          </a:xfrm>
          <a:prstGeom prst="rect">
            <a:avLst/>
          </a:prstGeom>
          <a:solidFill>
            <a:srgbClr val="F5F6F8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Text 16"/>
          <p:cNvSpPr/>
          <p:nvPr/>
        </p:nvSpPr>
        <p:spPr>
          <a:xfrm>
            <a:off x="2633472" y="20482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only → writes to InfluxDB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5541264" y="2048256"/>
            <a:ext cx="3145536" cy="384048"/>
          </a:xfrm>
          <a:prstGeom prst="rect">
            <a:avLst/>
          </a:prstGeom>
          <a:solidFill>
            <a:srgbClr val="F5F6F8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Text 18"/>
          <p:cNvSpPr/>
          <p:nvPr/>
        </p:nvSpPr>
        <p:spPr>
          <a:xfrm>
            <a:off x="5596128" y="2048256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+ Subscriber; middleware hub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457200" y="2450592"/>
            <a:ext cx="20848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4" name="Text 20"/>
          <p:cNvSpPr/>
          <p:nvPr/>
        </p:nvSpPr>
        <p:spPr>
          <a:xfrm>
            <a:off x="512064" y="2450592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2578608" y="2450592"/>
            <a:ext cx="285292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6" name="Text 22"/>
          <p:cNvSpPr/>
          <p:nvPr/>
        </p:nvSpPr>
        <p:spPr>
          <a:xfrm>
            <a:off x="2633472" y="24505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TOML config file — declarative, version-controlled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5541264" y="2450592"/>
            <a:ext cx="314553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8" name="Text 24"/>
          <p:cNvSpPr/>
          <p:nvPr/>
        </p:nvSpPr>
        <p:spPr>
          <a:xfrm>
            <a:off x="5596128" y="245059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drag-and-drop UI; exported as JSON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457200" y="2852928"/>
            <a:ext cx="2084832" cy="384048"/>
          </a:xfrm>
          <a:prstGeom prst="rect">
            <a:avLst/>
          </a:prstGeom>
          <a:solidFill>
            <a:srgbClr val="F5F6F8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0" name="Text 26"/>
          <p:cNvSpPr/>
          <p:nvPr/>
        </p:nvSpPr>
        <p:spPr>
          <a:xfrm>
            <a:off x="512064" y="2852928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&amp; branching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2578608" y="2852928"/>
            <a:ext cx="2852928" cy="384048"/>
          </a:xfrm>
          <a:prstGeom prst="rect">
            <a:avLst/>
          </a:prstGeom>
          <a:solidFill>
            <a:srgbClr val="F5F6F8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2" name="Text 28"/>
          <p:cNvSpPr/>
          <p:nvPr/>
        </p:nvSpPr>
        <p:spPr>
          <a:xfrm>
            <a:off x="2633472" y="28529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 plugins only (limited)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5541264" y="2852928"/>
            <a:ext cx="3145536" cy="384048"/>
          </a:xfrm>
          <a:prstGeom prst="rect">
            <a:avLst/>
          </a:prstGeom>
          <a:solidFill>
            <a:srgbClr val="F5F6F8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4" name="Text 30"/>
          <p:cNvSpPr/>
          <p:nvPr/>
        </p:nvSpPr>
        <p:spPr>
          <a:xfrm>
            <a:off x="5596128" y="2852928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Full: switch, function, change, delay nodes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457200" y="3255264"/>
            <a:ext cx="20848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6" name="Text 32"/>
          <p:cNvSpPr/>
          <p:nvPr/>
        </p:nvSpPr>
        <p:spPr>
          <a:xfrm>
            <a:off x="512064" y="3255264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bridge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2578608" y="3255264"/>
            <a:ext cx="285292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8" name="Text 34"/>
          <p:cNvSpPr/>
          <p:nvPr/>
        </p:nvSpPr>
        <p:spPr>
          <a:xfrm>
            <a:off x="2633472" y="325526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→ InfluxDB (native line protocol)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5541264" y="3255264"/>
            <a:ext cx="314553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0" name="Text 36"/>
          <p:cNvSpPr/>
          <p:nvPr/>
        </p:nvSpPr>
        <p:spPr>
          <a:xfrm>
            <a:off x="5596128" y="3255264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↔ HTTP / WS / TCP / email / custom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457200" y="3657600"/>
            <a:ext cx="2084832" cy="384048"/>
          </a:xfrm>
          <a:prstGeom prst="rect">
            <a:avLst/>
          </a:prstGeom>
          <a:solidFill>
            <a:srgbClr val="F5F6F8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2" name="Text 38"/>
          <p:cNvSpPr/>
          <p:nvPr/>
        </p:nvSpPr>
        <p:spPr>
          <a:xfrm>
            <a:off x="512064" y="3657600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2578608" y="3657600"/>
            <a:ext cx="2852928" cy="384048"/>
          </a:xfrm>
          <a:prstGeom prst="rect">
            <a:avLst/>
          </a:prstGeom>
          <a:solidFill>
            <a:srgbClr val="F5F6F8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4" name="Text 40"/>
          <p:cNvSpPr/>
          <p:nvPr/>
        </p:nvSpPr>
        <p:spPr>
          <a:xfrm>
            <a:off x="2633472" y="36576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binary — very low memory (~20 MB)</a:t>
            </a:r>
            <a:endParaRPr lang="en-US" sz="950" dirty="0"/>
          </a:p>
        </p:txBody>
      </p:sp>
      <p:sp>
        <p:nvSpPr>
          <p:cNvPr id="45" name="Shape 41"/>
          <p:cNvSpPr/>
          <p:nvPr/>
        </p:nvSpPr>
        <p:spPr>
          <a:xfrm>
            <a:off x="5541264" y="3657600"/>
            <a:ext cx="3145536" cy="384048"/>
          </a:xfrm>
          <a:prstGeom prst="rect">
            <a:avLst/>
          </a:prstGeom>
          <a:solidFill>
            <a:srgbClr val="F5F6F8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6" name="Text 42"/>
          <p:cNvSpPr/>
          <p:nvPr/>
        </p:nvSpPr>
        <p:spPr>
          <a:xfrm>
            <a:off x="5596128" y="3657600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— moderate footprint (~80–120 MB)</a:t>
            </a:r>
            <a:endParaRPr 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457200" y="4059936"/>
            <a:ext cx="20848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8" name="Text 44"/>
          <p:cNvSpPr/>
          <p:nvPr/>
        </p:nvSpPr>
        <p:spPr>
          <a:xfrm>
            <a:off x="512064" y="4059936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000" dirty="0"/>
          </a:p>
        </p:txBody>
      </p:sp>
      <p:sp>
        <p:nvSpPr>
          <p:cNvPr id="49" name="Shape 45"/>
          <p:cNvSpPr/>
          <p:nvPr/>
        </p:nvSpPr>
        <p:spPr>
          <a:xfrm>
            <a:off x="2578608" y="4059936"/>
            <a:ext cx="285292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0" name="Text 46"/>
          <p:cNvSpPr/>
          <p:nvPr/>
        </p:nvSpPr>
        <p:spPr>
          <a:xfrm>
            <a:off x="2633472" y="405993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batching + persistent queue buffer</a:t>
            </a:r>
            <a:endParaRPr lang="en-US" sz="950" dirty="0"/>
          </a:p>
        </p:txBody>
      </p:sp>
      <p:sp>
        <p:nvSpPr>
          <p:cNvPr id="51" name="Shape 47"/>
          <p:cNvSpPr/>
          <p:nvPr/>
        </p:nvSpPr>
        <p:spPr>
          <a:xfrm>
            <a:off x="5541264" y="4059936"/>
            <a:ext cx="314553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2" name="Text 48"/>
          <p:cNvSpPr/>
          <p:nvPr/>
        </p:nvSpPr>
        <p:spPr>
          <a:xfrm>
            <a:off x="5596128" y="4059936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for pure ingestion; event-driven model</a:t>
            </a:r>
            <a:endParaRPr lang="en-US" sz="950" dirty="0"/>
          </a:p>
        </p:txBody>
      </p:sp>
      <p:sp>
        <p:nvSpPr>
          <p:cNvPr id="53" name="Shape 49"/>
          <p:cNvSpPr/>
          <p:nvPr/>
        </p:nvSpPr>
        <p:spPr>
          <a:xfrm>
            <a:off x="457200" y="4462272"/>
            <a:ext cx="2084832" cy="384048"/>
          </a:xfrm>
          <a:prstGeom prst="rect">
            <a:avLst/>
          </a:prstGeom>
          <a:solidFill>
            <a:srgbClr val="F5F6F8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4" name="Text 50"/>
          <p:cNvSpPr/>
          <p:nvPr/>
        </p:nvSpPr>
        <p:spPr>
          <a:xfrm>
            <a:off x="512064" y="4462272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project</a:t>
            </a:r>
            <a:endParaRPr lang="en-US" sz="1000" dirty="0"/>
          </a:p>
        </p:txBody>
      </p:sp>
      <p:sp>
        <p:nvSpPr>
          <p:cNvPr id="55" name="Shape 51"/>
          <p:cNvSpPr/>
          <p:nvPr/>
        </p:nvSpPr>
        <p:spPr>
          <a:xfrm>
            <a:off x="2578608" y="4462272"/>
            <a:ext cx="2852928" cy="384048"/>
          </a:xfrm>
          <a:prstGeom prst="rect">
            <a:avLst/>
          </a:prstGeom>
          <a:solidFill>
            <a:srgbClr val="F5F6F8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6" name="Text 52"/>
          <p:cNvSpPr/>
          <p:nvPr/>
        </p:nvSpPr>
        <p:spPr>
          <a:xfrm>
            <a:off x="2633472" y="44622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Subscribes to ESP32 topics → InfluxDB buckets</a:t>
            </a:r>
            <a:endParaRPr lang="en-US" sz="950" dirty="0"/>
          </a:p>
        </p:txBody>
      </p:sp>
      <p:sp>
        <p:nvSpPr>
          <p:cNvPr id="57" name="Shape 53"/>
          <p:cNvSpPr/>
          <p:nvPr/>
        </p:nvSpPr>
        <p:spPr>
          <a:xfrm>
            <a:off x="5541264" y="4462272"/>
            <a:ext cx="3145536" cy="384048"/>
          </a:xfrm>
          <a:prstGeom prst="rect">
            <a:avLst/>
          </a:prstGeom>
          <a:solidFill>
            <a:srgbClr val="F5F6F8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8" name="Text 54"/>
          <p:cNvSpPr/>
          <p:nvPr/>
        </p:nvSpPr>
        <p:spPr>
          <a:xfrm>
            <a:off x="5596128" y="446227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&amp; additional flow logic on RPi4</a:t>
            </a:r>
            <a:endParaRPr lang="en-US" sz="950" dirty="0"/>
          </a:p>
        </p:txBody>
      </p:sp>
      <p:sp>
        <p:nvSpPr>
          <p:cNvPr id="59" name="Shape 55"/>
          <p:cNvSpPr/>
          <p:nvPr/>
        </p:nvSpPr>
        <p:spPr>
          <a:xfrm>
            <a:off x="457200" y="4864608"/>
            <a:ext cx="8229600" cy="21946"/>
          </a:xfrm>
          <a:prstGeom prst="rect">
            <a:avLst/>
          </a:prstGeom>
          <a:solidFill>
            <a:srgbClr val="C8CDD4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0" name="Text 56"/>
          <p:cNvSpPr/>
          <p:nvPr/>
        </p:nvSpPr>
        <p:spPr>
          <a:xfrm>
            <a:off x="-124691" y="4892040"/>
            <a:ext cx="88114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together on RPi4: Telegraf handles reliable sensor ingestion to InfluxDB; Node-RED handles conditional automation logic — complementary, not competing.</a:t>
            </a:r>
            <a:endParaRPr lang="en-US" sz="1000" dirty="0"/>
          </a:p>
        </p:txBody>
      </p:sp>
      <p:sp>
        <p:nvSpPr>
          <p:cNvPr id="61" name="Text 57"/>
          <p:cNvSpPr/>
          <p:nvPr/>
        </p:nvSpPr>
        <p:spPr>
          <a:xfrm>
            <a:off x="8321040" y="491947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40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LOGO! 8.4 — PLC as Modbus TCP Slave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2860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Siemens LOGO! 8.4 PLC operates as a Modbus TCP slave in the lab network. The ESP32-S3 also exposes all sensor readings as a Modbus TCP slave on port 502, bridging RS485 field sensors to any Modbus TCP master — PLC, SCADA, or mbpoll.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20171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Network Topology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584" y="1344412"/>
            <a:ext cx="256032" cy="2560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637020"/>
            <a:ext cx="1828800" cy="594360"/>
          </a:xfrm>
          <a:prstGeom prst="rect">
            <a:avLst/>
          </a:prstGeom>
          <a:solidFill>
            <a:srgbClr val="F5F6F8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5"/>
          <p:cNvSpPr/>
          <p:nvPr/>
        </p:nvSpPr>
        <p:spPr>
          <a:xfrm>
            <a:off x="457200" y="1637020"/>
            <a:ext cx="1828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LOGO! 8.4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</a:t>
            </a:r>
            <a:endParaRPr lang="en-US" sz="11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1104" y="1344412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74720" y="1637020"/>
            <a:ext cx="1828800" cy="594360"/>
          </a:xfrm>
          <a:prstGeom prst="rect">
            <a:avLst/>
          </a:prstGeom>
          <a:solidFill>
            <a:srgbClr val="F5F6F8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Text 7"/>
          <p:cNvSpPr/>
          <p:nvPr/>
        </p:nvSpPr>
        <p:spPr>
          <a:xfrm>
            <a:off x="3474720" y="1637020"/>
            <a:ext cx="1828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Node</a:t>
            </a:r>
            <a:endParaRPr lang="en-US" sz="11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8624" y="1344412"/>
            <a:ext cx="256032" cy="25603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492240" y="1637020"/>
            <a:ext cx="1828800" cy="594360"/>
          </a:xfrm>
          <a:prstGeom prst="rect">
            <a:avLst/>
          </a:prstGeom>
          <a:solidFill>
            <a:srgbClr val="F5F6F8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 9"/>
          <p:cNvSpPr/>
          <p:nvPr/>
        </p:nvSpPr>
        <p:spPr>
          <a:xfrm>
            <a:off x="6492240" y="1637020"/>
            <a:ext cx="1828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4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(2GB)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2286000" y="18381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B5563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2286000" y="16370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TCP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5303520" y="18381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B5563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303520" y="16370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/ TCP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457200" y="23685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Modbus TCP Holding Registers  (Unit ID 1, port 502)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295395"/>
              </p:ext>
            </p:extLst>
          </p:nvPr>
        </p:nvGraphicFramePr>
        <p:xfrm>
          <a:off x="457200" y="2661148"/>
          <a:ext cx="8229600" cy="2423160"/>
        </p:xfrm>
        <a:graphic>
          <a:graphicData uri="http://schemas.openxmlformats.org/drawingml/2006/table">
            <a:tbl>
              <a:tblPr/>
              <a:tblGrid>
                <a:gridCol w="749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6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3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/ Description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3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× 0.1 °C, signed int16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3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Humidity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× 0.1 %RH, unsigned int16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3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 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0=OK  1=timeout  2=CRC err  3=exception  4=bad response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3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Poll count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uint16, increments each successful Modbus RTU poll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3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SDM120 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codes as register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3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Voltage (V)  ·  Current (A)  ·  Active Power (W)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IEEE754 float — high word then low word (3 × 2-reg pairs)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3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11–16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Apparent (VA)  ·  Reactive (VAR)  ·  Power Factor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IEEE754 float — high word then low word (3 × 2-reg pairs)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3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17–20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 (Hz)  ·  Total Active Energy (kWh)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IEEE754 float — high word then low word (2 × 2-reg pairs)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1" name="Text 15"/>
          <p:cNvSpPr/>
          <p:nvPr/>
        </p:nvSpPr>
        <p:spPr>
          <a:xfrm>
            <a:off x="8321040" y="491947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40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Sniffer — Web Service on Raspberry Pi 4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2860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 capturing Modbus TCP (port 502) · MQTT/TCP (1883) · MQTT/WebSocket (8083) traffic in the lab.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3218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4864" cy="3218688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24358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87552" y="124358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Backend  (iot-sniffer)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58368" y="1545336"/>
            <a:ext cx="3621024" cy="13716"/>
          </a:xfrm>
          <a:prstGeom prst="rect">
            <a:avLst/>
          </a:prstGeom>
          <a:solidFill>
            <a:srgbClr val="C8CDD4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Text 7"/>
          <p:cNvSpPr/>
          <p:nvPr/>
        </p:nvSpPr>
        <p:spPr>
          <a:xfrm>
            <a:off x="658368" y="1572768"/>
            <a:ext cx="362102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iot-sniffer-backend:latest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Network: host  (captures Pi's own LAN traffic)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256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capture.py  /  transport/  /  protocols/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scapy AsyncSniffer, TCP reassembly, Modbus + MQTT decoders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256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metrics/*  /  store.py  /  server.py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p50/p95/p99, SQLite WAL, WebSocket push :8765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Capabilities: NET_RAW + NET_ADMIN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Required for scapy raw-socket packet capture on Linux</a:t>
            </a:r>
            <a:endParaRPr lang="en-US" sz="11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977640"/>
            <a:ext cx="237744" cy="237744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3977640"/>
            <a:ext cx="237744" cy="237744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6736" y="3977640"/>
            <a:ext cx="237744" cy="237744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754880" y="1188720"/>
            <a:ext cx="3931920" cy="3218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Shape 9"/>
          <p:cNvSpPr/>
          <p:nvPr/>
        </p:nvSpPr>
        <p:spPr>
          <a:xfrm>
            <a:off x="4754880" y="1188720"/>
            <a:ext cx="54864" cy="3218688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1243584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85232" y="124358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  (iot-sniffer-dashboard)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4956048" y="1545336"/>
            <a:ext cx="3621024" cy="13716"/>
          </a:xfrm>
          <a:prstGeom prst="rect">
            <a:avLst/>
          </a:prstGeom>
          <a:solidFill>
            <a:srgbClr val="C8CDD4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Text 12"/>
          <p:cNvSpPr/>
          <p:nvPr/>
        </p:nvSpPr>
        <p:spPr>
          <a:xfrm>
            <a:off x="4956048" y="1572768"/>
            <a:ext cx="362102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iot-sniffer-dashboard:latest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nginx serving static React/JSX bundle  ·  Port 8080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256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app.jsx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Packet inspector, protocol rail, MQTT topic tree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256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graph.jsx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Sequence / Topology / Matrix connection views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256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perf.jsx  /  sim.jsx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Latency CDF, jitter, CSV export  ·  Demo synthesizer</a:t>
            </a:r>
            <a:endParaRPr lang="en-US" sz="11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3977640"/>
            <a:ext cx="237744" cy="237744"/>
          </a:xfrm>
          <a:prstGeom prst="rect">
            <a:avLst/>
          </a:prstGeom>
        </p:spPr>
      </p:pic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85232" y="3977640"/>
            <a:ext cx="237744" cy="237744"/>
          </a:xfrm>
          <a:prstGeom prst="rect">
            <a:avLst/>
          </a:prstGeom>
        </p:spPr>
      </p:pic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4416" y="3977640"/>
            <a:ext cx="237744" cy="237744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0" y="4517136"/>
            <a:ext cx="9144000" cy="18288"/>
          </a:xfrm>
          <a:prstGeom prst="rect">
            <a:avLst/>
          </a:prstGeom>
          <a:solidFill>
            <a:srgbClr val="C8CDD4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4" name="Text 14"/>
          <p:cNvSpPr/>
          <p:nvPr/>
        </p:nvSpPr>
        <p:spPr>
          <a:xfrm>
            <a:off x="457200" y="45537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 ·  iot-sniffer (host net, NET_RAW)  +  iot-sniffer-dashboard (nginx :8080)  ·  Up 3+ days on Pi</a:t>
            </a:r>
            <a:endParaRPr lang="en-US" sz="1000" dirty="0"/>
          </a:p>
        </p:txBody>
      </p:sp>
      <p:sp>
        <p:nvSpPr>
          <p:cNvPr id="25" name="Shape 15"/>
          <p:cNvSpPr/>
          <p:nvPr/>
        </p:nvSpPr>
        <p:spPr>
          <a:xfrm>
            <a:off x="320040" y="4846320"/>
            <a:ext cx="1170432" cy="219456"/>
          </a:xfrm>
          <a:prstGeom prst="rect">
            <a:avLst/>
          </a:prstGeom>
          <a:solidFill>
            <a:srgbClr val="F5F6F8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6" name="Text 16"/>
          <p:cNvSpPr/>
          <p:nvPr/>
        </p:nvSpPr>
        <p:spPr>
          <a:xfrm>
            <a:off x="320040" y="484632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3.11+</a:t>
            </a:r>
            <a:endParaRPr lang="en-US" sz="900" dirty="0"/>
          </a:p>
        </p:txBody>
      </p:sp>
      <p:sp>
        <p:nvSpPr>
          <p:cNvPr id="27" name="Shape 17"/>
          <p:cNvSpPr/>
          <p:nvPr/>
        </p:nvSpPr>
        <p:spPr>
          <a:xfrm>
            <a:off x="1545336" y="4846320"/>
            <a:ext cx="1170432" cy="219456"/>
          </a:xfrm>
          <a:prstGeom prst="rect">
            <a:avLst/>
          </a:prstGeom>
          <a:solidFill>
            <a:srgbClr val="F5F6F8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8" name="Text 18"/>
          <p:cNvSpPr/>
          <p:nvPr/>
        </p:nvSpPr>
        <p:spPr>
          <a:xfrm>
            <a:off x="1545336" y="484632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scapy</a:t>
            </a:r>
            <a:endParaRPr lang="en-US" sz="900" dirty="0"/>
          </a:p>
        </p:txBody>
      </p:sp>
      <p:sp>
        <p:nvSpPr>
          <p:cNvPr id="29" name="Shape 19"/>
          <p:cNvSpPr/>
          <p:nvPr/>
        </p:nvSpPr>
        <p:spPr>
          <a:xfrm>
            <a:off x="2770632" y="4846320"/>
            <a:ext cx="1170432" cy="219456"/>
          </a:xfrm>
          <a:prstGeom prst="rect">
            <a:avLst/>
          </a:prstGeom>
          <a:solidFill>
            <a:srgbClr val="F5F6F8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0" name="Text 20"/>
          <p:cNvSpPr/>
          <p:nvPr/>
        </p:nvSpPr>
        <p:spPr>
          <a:xfrm>
            <a:off x="2770632" y="484632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</a:t>
            </a:r>
            <a:endParaRPr lang="en-US" sz="900" dirty="0"/>
          </a:p>
        </p:txBody>
      </p:sp>
      <p:sp>
        <p:nvSpPr>
          <p:cNvPr id="31" name="Shape 21"/>
          <p:cNvSpPr/>
          <p:nvPr/>
        </p:nvSpPr>
        <p:spPr>
          <a:xfrm>
            <a:off x="3995928" y="4846320"/>
            <a:ext cx="1170432" cy="219456"/>
          </a:xfrm>
          <a:prstGeom prst="rect">
            <a:avLst/>
          </a:prstGeom>
          <a:solidFill>
            <a:srgbClr val="F5F6F8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2" name="Text 22"/>
          <p:cNvSpPr/>
          <p:nvPr/>
        </p:nvSpPr>
        <p:spPr>
          <a:xfrm>
            <a:off x="3995928" y="484632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React/JSX</a:t>
            </a:r>
            <a:endParaRPr lang="en-US" sz="900" dirty="0"/>
          </a:p>
        </p:txBody>
      </p:sp>
      <p:sp>
        <p:nvSpPr>
          <p:cNvPr id="33" name="Shape 23"/>
          <p:cNvSpPr/>
          <p:nvPr/>
        </p:nvSpPr>
        <p:spPr>
          <a:xfrm>
            <a:off x="5221224" y="4846320"/>
            <a:ext cx="1170432" cy="219456"/>
          </a:xfrm>
          <a:prstGeom prst="rect">
            <a:avLst/>
          </a:prstGeom>
          <a:solidFill>
            <a:srgbClr val="F5F6F8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4" name="Text 24"/>
          <p:cNvSpPr/>
          <p:nvPr/>
        </p:nvSpPr>
        <p:spPr>
          <a:xfrm>
            <a:off x="5221224" y="484632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900" dirty="0"/>
          </a:p>
        </p:txBody>
      </p:sp>
      <p:sp>
        <p:nvSpPr>
          <p:cNvPr id="35" name="Shape 25"/>
          <p:cNvSpPr/>
          <p:nvPr/>
        </p:nvSpPr>
        <p:spPr>
          <a:xfrm>
            <a:off x="6446520" y="4846320"/>
            <a:ext cx="1170432" cy="219456"/>
          </a:xfrm>
          <a:prstGeom prst="rect">
            <a:avLst/>
          </a:prstGeom>
          <a:solidFill>
            <a:srgbClr val="F5F6F8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6" name="Text 26"/>
          <p:cNvSpPr/>
          <p:nvPr/>
        </p:nvSpPr>
        <p:spPr>
          <a:xfrm>
            <a:off x="6446520" y="484632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WAL</a:t>
            </a:r>
            <a:endParaRPr lang="en-US" sz="900" dirty="0"/>
          </a:p>
        </p:txBody>
      </p:sp>
      <p:sp>
        <p:nvSpPr>
          <p:cNvPr id="37" name="Shape 27"/>
          <p:cNvSpPr/>
          <p:nvPr/>
        </p:nvSpPr>
        <p:spPr>
          <a:xfrm>
            <a:off x="7671816" y="4846320"/>
            <a:ext cx="1170432" cy="219456"/>
          </a:xfrm>
          <a:prstGeom prst="rect">
            <a:avLst/>
          </a:prstGeom>
          <a:solidFill>
            <a:srgbClr val="F5F6F8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8" name="Text 28"/>
          <p:cNvSpPr/>
          <p:nvPr/>
        </p:nvSpPr>
        <p:spPr>
          <a:xfrm>
            <a:off x="7671816" y="484632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:8080</a:t>
            </a:r>
            <a:endParaRPr lang="en-US" sz="900" dirty="0"/>
          </a:p>
        </p:txBody>
      </p:sp>
      <p:sp>
        <p:nvSpPr>
          <p:cNvPr id="39" name="Text 29"/>
          <p:cNvSpPr/>
          <p:nvPr/>
        </p:nvSpPr>
        <p:spPr>
          <a:xfrm>
            <a:off x="8321040" y="491947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40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Sniffer — Dashboard Features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2860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82880"/>
            <a:ext cx="310896" cy="31089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072" y="182880"/>
            <a:ext cx="310896" cy="31089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886968"/>
            <a:ext cx="425196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Shape 3"/>
          <p:cNvSpPr/>
          <p:nvPr/>
        </p:nvSpPr>
        <p:spPr>
          <a:xfrm>
            <a:off x="457200" y="886968"/>
            <a:ext cx="54864" cy="2029968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4"/>
          <p:cNvSpPr/>
          <p:nvPr/>
        </p:nvSpPr>
        <p:spPr>
          <a:xfrm>
            <a:off x="603504" y="978408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Inspector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603504" y="1271016"/>
            <a:ext cx="3986784" cy="13716"/>
          </a:xfrm>
          <a:prstGeom prst="rect">
            <a:avLst/>
          </a:prstGeom>
          <a:solidFill>
            <a:srgbClr val="C8CDD4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Text 6"/>
          <p:cNvSpPr/>
          <p:nvPr/>
        </p:nvSpPr>
        <p:spPr>
          <a:xfrm>
            <a:off x="603504" y="1307592"/>
            <a:ext cx="3986784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Protocol-colored traffic rail: Modbus TCP, MQTT/TCP, MQTT/WS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header breakdown with field-by-field hex annotation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topic tree with payload decode and QoS labeling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signal, top talkers sorted by packet count (src:port → dst)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892040" y="886968"/>
            <a:ext cx="425196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Shape 8"/>
          <p:cNvSpPr/>
          <p:nvPr/>
        </p:nvSpPr>
        <p:spPr>
          <a:xfrm>
            <a:off x="4892040" y="886968"/>
            <a:ext cx="54864" cy="2029968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Text 9"/>
          <p:cNvSpPr/>
          <p:nvPr/>
        </p:nvSpPr>
        <p:spPr>
          <a:xfrm>
            <a:off x="5038344" y="978408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Graph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038344" y="1271016"/>
            <a:ext cx="3986784" cy="13716"/>
          </a:xfrm>
          <a:prstGeom prst="rect">
            <a:avLst/>
          </a:prstGeom>
          <a:solidFill>
            <a:srgbClr val="C8CDD4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Text 11"/>
          <p:cNvSpPr/>
          <p:nvPr/>
        </p:nvSpPr>
        <p:spPr>
          <a:xfrm>
            <a:off x="5038344" y="1307592"/>
            <a:ext cx="3986784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— device lifelines with per-message arrows colored by protocol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— devices grouped left-to-right by role: PLC, broker, edge, sensor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— circular graph + adjacency table, cells shaded by packet count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Cross-highlighting between circular graph and table in Matrix view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7200" y="3008376"/>
            <a:ext cx="425196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Shape 13"/>
          <p:cNvSpPr/>
          <p:nvPr/>
        </p:nvSpPr>
        <p:spPr>
          <a:xfrm>
            <a:off x="457200" y="3008376"/>
            <a:ext cx="54864" cy="2029968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Text 14"/>
          <p:cNvSpPr/>
          <p:nvPr/>
        </p:nvSpPr>
        <p:spPr>
          <a:xfrm>
            <a:off x="603504" y="3099816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03504" y="3392424"/>
            <a:ext cx="3986784" cy="13716"/>
          </a:xfrm>
          <a:prstGeom prst="rect">
            <a:avLst/>
          </a:prstGeom>
          <a:solidFill>
            <a:srgbClr val="C8CDD4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Text 16"/>
          <p:cNvSpPr/>
          <p:nvPr/>
        </p:nvSpPr>
        <p:spPr>
          <a:xfrm>
            <a:off x="603504" y="3429000"/>
            <a:ext cx="3986784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Per-protocol p50 / p95 / p99 latency time-series in 5-second buckets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CDF, inter-arrival jitter (RFC 3550 MAD), frame-size histogram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Per-flow sortable table: mean / p95 / p99 / max latency per connection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CSV export: latency samples, per-flow stats, full metrics history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892040" y="3008376"/>
            <a:ext cx="425196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Shape 18"/>
          <p:cNvSpPr/>
          <p:nvPr/>
        </p:nvSpPr>
        <p:spPr>
          <a:xfrm>
            <a:off x="4892040" y="3008376"/>
            <a:ext cx="54864" cy="2029968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3" name="Text 19"/>
          <p:cNvSpPr/>
          <p:nvPr/>
        </p:nvSpPr>
        <p:spPr>
          <a:xfrm>
            <a:off x="5038344" y="3099816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Metrics  (1 Hz WebSocket Push)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5038344" y="3392424"/>
            <a:ext cx="3986784" cy="13716"/>
          </a:xfrm>
          <a:prstGeom prst="rect">
            <a:avLst/>
          </a:prstGeom>
          <a:solidFill>
            <a:srgbClr val="C8CDD4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Text 21"/>
          <p:cNvSpPr/>
          <p:nvPr/>
        </p:nvSpPr>
        <p:spPr>
          <a:xfrm>
            <a:off x="5038344" y="3429000"/>
            <a:ext cx="3986784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in bps + messages/sec, aggregated and per flow/topic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error rate (60 s window), exception count, TCP retransmits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reconnect count; RFC 3550 jitter averaged across all topics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WAL — new browser tab gets last ~200 frames backfilled on connect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8321040" y="491947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40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Packet Generator  (sim.jsx)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2860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82880"/>
            <a:ext cx="310896" cy="31089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072" y="182880"/>
            <a:ext cx="310896" cy="3108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Demo-mode synthesizer built into the IoT Sniffer frontend — generates realistic Modbus TCP, MQTT/TCP, and MQTT/WebSocket traffic without live hardware.</a:t>
            </a:r>
            <a:endParaRPr lang="en-US" sz="1250" dirty="0"/>
          </a:p>
        </p:txBody>
      </p:sp>
      <p:sp>
        <p:nvSpPr>
          <p:cNvPr id="7" name="Shape 3"/>
          <p:cNvSpPr/>
          <p:nvPr/>
        </p:nvSpPr>
        <p:spPr>
          <a:xfrm>
            <a:off x="457200" y="1261872"/>
            <a:ext cx="4069080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Shape 4"/>
          <p:cNvSpPr/>
          <p:nvPr/>
        </p:nvSpPr>
        <p:spPr>
          <a:xfrm>
            <a:off x="457200" y="1261872"/>
            <a:ext cx="54864" cy="3730752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Text 5"/>
          <p:cNvSpPr/>
          <p:nvPr/>
        </p:nvSpPr>
        <p:spPr>
          <a:xfrm>
            <a:off x="658368" y="13167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58368" y="1609344"/>
            <a:ext cx="3749040" cy="13716"/>
          </a:xfrm>
          <a:prstGeom prst="rect">
            <a:avLst/>
          </a:prstGeom>
          <a:solidFill>
            <a:srgbClr val="C8CDD4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Text 7"/>
          <p:cNvSpPr/>
          <p:nvPr/>
        </p:nvSpPr>
        <p:spPr>
          <a:xfrm>
            <a:off x="658368" y="164592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Synthesizes decoded frame objects matching the exact WebSocket push format of the live backend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Modbus TCP request/response pairs, MQTT CONNECT / PUBLISH / SUBSCRIBE / PUBACK / PINGREQ / DISCONNECT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realistic p50/p95/p99 latency, throughput, MQTT jitter, and Modbus error rates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 host list populates Connection Graph — mirrors LOGO! 8.4 + ESP32 + RPi4 lab topology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Activated via ?demo=1; composes with deep-link tabs: ?demo=1&amp;tab=perf or ?demo=1&amp;tab=graph&amp;view=topology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709160" y="1261872"/>
            <a:ext cx="4069080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9"/>
          <p:cNvSpPr/>
          <p:nvPr/>
        </p:nvSpPr>
        <p:spPr>
          <a:xfrm>
            <a:off x="4709160" y="1261872"/>
            <a:ext cx="54864" cy="3730752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 10"/>
          <p:cNvSpPr/>
          <p:nvPr/>
        </p:nvSpPr>
        <p:spPr>
          <a:xfrm>
            <a:off x="4910328" y="13167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910328" y="1609344"/>
            <a:ext cx="3749040" cy="13716"/>
          </a:xfrm>
          <a:prstGeom prst="rect">
            <a:avLst/>
          </a:prstGeom>
          <a:solidFill>
            <a:srgbClr val="C8CDD4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2"/>
          <p:cNvSpPr/>
          <p:nvPr/>
        </p:nvSpPr>
        <p:spPr>
          <a:xfrm>
            <a:off x="4910328" y="164592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development and UI iteration proceed without physical hardware, root permissions, or a live LAN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dashboard tabs (Packet Inspector, Connection Graph, Performance, Metrics) are fully exercisable without the backend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reproducible demos — a fully populated interactive dashboard appears instantly for any audience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36-test pytest suite (BPF filter, frame formatters, summary renderer, pcap replay) validates the decode pipeline independently of the synthesizer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8321040" y="491947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40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Has Been Built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2860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82296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54864" cy="877824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658368" y="100584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Firmware  (C++ / PlatformIO)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" y="1316736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RTU master: XY-MD02 temp/humidity + SDM120 power over RS485  ·  MQTT JSON publisher to RPi4 Mosquitto  ·  Modbus TCP slave: 21 registers, IEEE754 floats, port 502  ·  mDNS  ·  Flash 946KB / RAM 48.5KB</a:t>
            </a:r>
            <a:endParaRPr lang="en-US" sz="10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243584"/>
            <a:ext cx="246888" cy="246888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1243584"/>
            <a:ext cx="246888" cy="24688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7200" y="1901952"/>
            <a:ext cx="82296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Shape 7"/>
          <p:cNvSpPr/>
          <p:nvPr/>
        </p:nvSpPr>
        <p:spPr>
          <a:xfrm>
            <a:off x="457200" y="1901952"/>
            <a:ext cx="54864" cy="877824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Text 8"/>
          <p:cNvSpPr/>
          <p:nvPr/>
        </p:nvSpPr>
        <p:spPr>
          <a:xfrm>
            <a:off x="658368" y="197510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 (Raspberry Pi 4 · 2GB  ·  7 containers running)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58368" y="2286000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mosquitto:2.0 (:1883/:9001)  ·  telegraf:1.28  ·  influxdb:2.7 (:8086)  ·  grafana:13.0.1 (:3000)  ·  nodered/node-red  ·  All up 3+ days, load avg 0.44</a:t>
            </a:r>
            <a:endParaRPr lang="en-US" sz="10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2212848"/>
            <a:ext cx="246888" cy="246888"/>
          </a:xfrm>
          <a:prstGeom prst="rect">
            <a:avLst/>
          </a:prstGeom>
        </p:spPr>
      </p:pic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7144" y="2212848"/>
            <a:ext cx="246888" cy="246888"/>
          </a:xfrm>
          <a:prstGeom prst="rect">
            <a:avLst/>
          </a:prstGeom>
        </p:spPr>
      </p:pic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8896" y="2212848"/>
            <a:ext cx="246888" cy="246888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70648" y="2212848"/>
            <a:ext cx="246888" cy="246888"/>
          </a:xfrm>
          <a:prstGeom prst="rect">
            <a:avLst/>
          </a:prstGeom>
        </p:spPr>
      </p:pic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0" y="2212848"/>
            <a:ext cx="246888" cy="246888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74152" y="2212848"/>
            <a:ext cx="246888" cy="246888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457200" y="2871216"/>
            <a:ext cx="82296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Shape 11"/>
          <p:cNvSpPr/>
          <p:nvPr/>
        </p:nvSpPr>
        <p:spPr>
          <a:xfrm>
            <a:off x="457200" y="2871216"/>
            <a:ext cx="54864" cy="877824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Text 12"/>
          <p:cNvSpPr/>
          <p:nvPr/>
        </p:nvSpPr>
        <p:spPr>
          <a:xfrm>
            <a:off x="658368" y="294436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Sniffer  (Python + React · Docker on RPi4)</a:t>
            </a:r>
            <a:endParaRPr lang="en-US" sz="1200" dirty="0"/>
          </a:p>
        </p:txBody>
      </p:sp>
      <p:sp>
        <p:nvSpPr>
          <p:cNvPr id="23" name="Text 13"/>
          <p:cNvSpPr/>
          <p:nvPr/>
        </p:nvSpPr>
        <p:spPr>
          <a:xfrm>
            <a:off x="658368" y="3255264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iot-sniffer-backend:latest (host net, NET_RAW)  ·  iot-sniffer-dashboard:latest (nginx :8080)  ·  4 dashboard tabs  ·  p50/p95/p99 + jitter  ·  36-test pytest suite</a:t>
            </a:r>
            <a:endParaRPr lang="en-US" sz="105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67144" y="3182112"/>
            <a:ext cx="246888" cy="246888"/>
          </a:xfrm>
          <a:prstGeom prst="rect">
            <a:avLst/>
          </a:prstGeom>
        </p:spPr>
      </p:pic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68896" y="3182112"/>
            <a:ext cx="246888" cy="246888"/>
          </a:xfrm>
          <a:prstGeom prst="rect">
            <a:avLst/>
          </a:prstGeom>
        </p:spPr>
      </p:pic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0648" y="3182112"/>
            <a:ext cx="246888" cy="246888"/>
          </a:xfrm>
          <a:prstGeom prst="rect">
            <a:avLst/>
          </a:prstGeom>
        </p:spPr>
      </p:pic>
      <p:pic>
        <p:nvPicPr>
          <p:cNvPr id="27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72400" y="3182112"/>
            <a:ext cx="246888" cy="246888"/>
          </a:xfrm>
          <a:prstGeom prst="rect">
            <a:avLst/>
          </a:prstGeom>
        </p:spPr>
      </p:pic>
      <p:pic>
        <p:nvPicPr>
          <p:cNvPr id="28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74152" y="3182112"/>
            <a:ext cx="246888" cy="246888"/>
          </a:xfrm>
          <a:prstGeom prst="rect">
            <a:avLst/>
          </a:prstGeom>
        </p:spPr>
      </p:pic>
      <p:sp>
        <p:nvSpPr>
          <p:cNvPr id="29" name="Shape 14"/>
          <p:cNvSpPr/>
          <p:nvPr/>
        </p:nvSpPr>
        <p:spPr>
          <a:xfrm>
            <a:off x="457200" y="3840480"/>
            <a:ext cx="82296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0" name="Shape 15"/>
          <p:cNvSpPr/>
          <p:nvPr/>
        </p:nvSpPr>
        <p:spPr>
          <a:xfrm>
            <a:off x="457200" y="3840480"/>
            <a:ext cx="54864" cy="877824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1" name="Text 16"/>
          <p:cNvSpPr/>
          <p:nvPr/>
        </p:nvSpPr>
        <p:spPr>
          <a:xfrm>
            <a:off x="658368" y="391363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Packet Generator  (sim.jsx)</a:t>
            </a:r>
            <a:endParaRPr lang="en-US" sz="1200" dirty="0"/>
          </a:p>
        </p:txBody>
      </p:sp>
      <p:sp>
        <p:nvSpPr>
          <p:cNvPr id="32" name="Text 17"/>
          <p:cNvSpPr/>
          <p:nvPr/>
        </p:nvSpPr>
        <p:spPr>
          <a:xfrm>
            <a:off x="658368" y="4224528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Synthesizes Modbus TCP + MQTT/TCP + MQTT/WS matching live push format  ·  Mirrors LOGO! 8.4 + ESP32 + RPi4 topology  ·  All 4 tabs work without hardware  ·  Activated via ?demo=1</a:t>
            </a:r>
            <a:endParaRPr lang="en-US" sz="1050" dirty="0"/>
          </a:p>
        </p:txBody>
      </p:sp>
      <p:pic>
        <p:nvPicPr>
          <p:cNvPr id="33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72400" y="4151376"/>
            <a:ext cx="246888" cy="246888"/>
          </a:xfrm>
          <a:prstGeom prst="rect">
            <a:avLst/>
          </a:prstGeom>
        </p:spPr>
      </p:pic>
      <p:pic>
        <p:nvPicPr>
          <p:cNvPr id="34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74152" y="4151376"/>
            <a:ext cx="246888" cy="246888"/>
          </a:xfrm>
          <a:prstGeom prst="rect">
            <a:avLst/>
          </a:prstGeom>
        </p:spPr>
      </p:pic>
      <p:sp>
        <p:nvSpPr>
          <p:cNvPr id="35" name="Shape 18"/>
          <p:cNvSpPr/>
          <p:nvPr/>
        </p:nvSpPr>
        <p:spPr>
          <a:xfrm>
            <a:off x="0" y="4773168"/>
            <a:ext cx="9144000" cy="18288"/>
          </a:xfrm>
          <a:prstGeom prst="rect">
            <a:avLst/>
          </a:prstGeom>
          <a:solidFill>
            <a:srgbClr val="C8CDD4"/>
          </a:solidFill>
          <a:ln w="12700">
            <a:solidFill>
              <a:srgbClr val="C8CD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6" name="Text 19"/>
          <p:cNvSpPr/>
          <p:nvPr/>
        </p:nvSpPr>
        <p:spPr>
          <a:xfrm>
            <a:off x="457200" y="4809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github.com/patthananb/Lab_network_monitoring   |   github.com/patthananb/IoT-sniffer</a:t>
            </a:r>
            <a:endParaRPr lang="en-US" sz="1000" dirty="0"/>
          </a:p>
        </p:txBody>
      </p:sp>
      <p:sp>
        <p:nvSpPr>
          <p:cNvPr id="37" name="Text 20"/>
          <p:cNvSpPr/>
          <p:nvPr/>
        </p:nvSpPr>
        <p:spPr>
          <a:xfrm>
            <a:off x="8321040" y="491947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40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IIoT Platform Comparison — Connectivity &amp; Real-Time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2860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the three platforms used in this project across industrial protocol support and real-time behaviour.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309360" y="795528"/>
            <a:ext cx="713232" cy="192024"/>
          </a:xfrm>
          <a:prstGeom prst="rect">
            <a:avLst/>
          </a:prstGeom>
          <a:solidFill>
            <a:srgbClr val="D1FAE5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6309360" y="795528"/>
            <a:ext cx="7132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Strong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077456" y="795528"/>
            <a:ext cx="713232" cy="192024"/>
          </a:xfrm>
          <a:prstGeom prst="rect">
            <a:avLst/>
          </a:prstGeom>
          <a:solidFill>
            <a:srgbClr val="FEF3C7"/>
          </a:solidFill>
          <a:ln w="12700">
            <a:solidFill>
              <a:srgbClr val="78350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7077456" y="795528"/>
            <a:ext cx="7132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◑  Partial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845552" y="795528"/>
            <a:ext cx="713232" cy="192024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7845552" y="795528"/>
            <a:ext cx="7132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Weak / N/A</a:t>
            </a:r>
            <a:endParaRPr lang="en-US" sz="8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984" y="1024128"/>
            <a:ext cx="237744" cy="237744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4104" y="1024128"/>
            <a:ext cx="237744" cy="237744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7224" y="1024128"/>
            <a:ext cx="237744" cy="237744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509772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ESP32-S3  (MCU)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Raspberry Pi 4  (SBC)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LOGO! 8.4  (PLC)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CONNECTIVITY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3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Modbus RTU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 SW lib (pymodbus)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 pymodbus / Node-RED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 Native HW support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3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Modbus TCP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 SW lib via Wi-Fi / SPI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 Native (Linux TCP)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 Native HW support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3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MQTT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 ESP-MQTT (ESP-IDF)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 Any broker (Python/NR)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7835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◑  Limited REST API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3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OPC-UA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7835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◑  Partial (open62541)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 Full stack (node-opcua)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7835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◑  Via gateway only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WIRELESS &amp; NETWORK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3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Wi-Fi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 802.11 b/g/n on-chip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 2.4 + 5 GHz on-board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3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Wired Ethernet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7835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◑  SPI add-on module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 Gigabit ETH on-board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 10/100 on-board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3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Bluetooth / 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 BT 4.2/5.0 on-chip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 BT 5.0 on-board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&amp; RELIABILITY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3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7835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◑  Soft RT (FreeRTOS)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Non-RT (Linux)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 Hard RT (fixed cycle)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3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Interrupt latency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~1–5 µs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50–1,000 µs (Linux IRQ)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scan cycle (≤ 10 ms)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3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HW Watchdog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 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SW only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 Yes (safety-rated)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3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Power-loss safe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7835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◑  NVS flash (wear risk)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SD card corruption risk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 Retentive memory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8321040" y="491947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400" b="1" dirty="0">
                <a:solidFill>
                  <a:srgbClr val="1B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IIoT Platform Comparison — I/O, Compute &amp; Deployment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2860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interfacing, edge computing capabilities, and deployment characteristics of each platform in this project.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677953" y="809704"/>
            <a:ext cx="713232" cy="192024"/>
          </a:xfrm>
          <a:prstGeom prst="rect">
            <a:avLst/>
          </a:prstGeom>
          <a:solidFill>
            <a:srgbClr val="D1FAE5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6677953" y="809704"/>
            <a:ext cx="7132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Strong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46049" y="809704"/>
            <a:ext cx="713232" cy="192024"/>
          </a:xfrm>
          <a:prstGeom prst="rect">
            <a:avLst/>
          </a:prstGeom>
          <a:solidFill>
            <a:srgbClr val="FEF3C7"/>
          </a:solidFill>
          <a:ln w="12700">
            <a:solidFill>
              <a:srgbClr val="78350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7446049" y="809704"/>
            <a:ext cx="7132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◑  Partial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214145" y="809704"/>
            <a:ext cx="713232" cy="192024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8214145" y="809704"/>
            <a:ext cx="7132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Weak / N/A</a:t>
            </a:r>
            <a:endParaRPr lang="en-US" sz="8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984" y="960628"/>
            <a:ext cx="237744" cy="237744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4104" y="960628"/>
            <a:ext cx="237744" cy="237744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7224" y="1024128"/>
            <a:ext cx="237744" cy="237744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0595104"/>
              </p:ext>
            </p:extLst>
          </p:nvPr>
        </p:nvGraphicFramePr>
        <p:xfrm>
          <a:off x="341161" y="1181100"/>
          <a:ext cx="8229600" cy="3902964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ESP32-S3  (MCU)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Raspberry Pi 4  (SBC)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LOGO! 8.4  (PLC)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&amp; FIELD I/O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3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Analog input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7835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◑  12-bit ADC (3.3V)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None (HAT required)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7835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◑  0–10V in (8-bit)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46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3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I/O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 GPIO (shared)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GPIO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DI + 4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3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RS-485 / UART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 3× UART + transceiver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7835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◑  UART via GPIO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 Built-in RS-485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3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 / rugged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None (bare module)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None (commercial)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 Optical iso., IP20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&amp; EDGE COMPUTE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3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processing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7835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◑  Moderate (240 MHz)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 Full Linux / Docker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Minimal (logic only)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3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storage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7835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◑  4MB flash (LittleFS)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 MicroSD + SSD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None (prog. blocks)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3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TIG stack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7835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◑  MQTT source (Telegraf)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 Full TIG (Docker)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7835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◑  Via Modbus gateway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3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NTP time sync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 Built-in SNTP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 systemd-timesyncd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7835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◑  Manual time setting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 &amp; COST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3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OTA firmware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 Dual-bank OTA (ESP-IDF)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 apt / SSH anytime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7835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◑  Via LOGO! TDE / ETH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3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temp.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 –40 to 85 °C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7835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◑  0 to 70 °C (commercial)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7835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◑  –25 to 55 °C (IEC)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3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cost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 ~$3–5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7835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◑  ~$35–75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~$150–250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THIS PROJECT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3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suited for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node &amp; protocol bridge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 &amp; dashboard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Hardened field control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8321040" y="491947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</TotalTime>
  <Words>2484</Words>
  <Application>Microsoft Macintosh PowerPoint</Application>
  <PresentationFormat>On-screen Show (16:9)</PresentationFormat>
  <Paragraphs>388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Senior Project Progress Summary</dc:title>
  <dc:subject>PptxGenJS Presentation</dc:subject>
  <dc:creator>Patthannan B.</dc:creator>
  <cp:lastModifiedBy>PATTHANAN BHUNDHUMANI</cp:lastModifiedBy>
  <cp:revision>5</cp:revision>
  <dcterms:created xsi:type="dcterms:W3CDTF">2026-05-10T02:31:01Z</dcterms:created>
  <dcterms:modified xsi:type="dcterms:W3CDTF">2026-05-11T09:01:41Z</dcterms:modified>
</cp:coreProperties>
</file>