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4"/>
  </p:notesMasterIdLst>
  <p:sldIdLst>
    <p:sldId id="256" r:id="rId3"/>
  </p:sldIdLst>
  <p:sldSz cx="21388388" cy="30275213"/>
  <p:notesSz cx="6858000" cy="9144000"/>
  <p:embeddedFontLst>
    <p:embeddedFont>
      <p:font typeface="Arial Black" panose="020B0604020202020204" pitchFamily="34" charset="0"/>
      <p:bold r:id="rId5"/>
    </p:embeddedFont>
    <p:embeddedFont>
      <p:font typeface="Trebuchet MS" panose="020B0703020202090204" pitchFamily="34" charset="0"/>
      <p:regular r:id="rId6"/>
      <p:bold r:id="rId7"/>
      <p: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5">
          <p15:clr>
            <a:srgbClr val="A4A3A4"/>
          </p15:clr>
        </p15:guide>
        <p15:guide id="2" orient="horz" pos="18541">
          <p15:clr>
            <a:srgbClr val="A4A3A4"/>
          </p15:clr>
        </p15:guide>
        <p15:guide id="3" pos="1319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jhPyjGU2BZ7h6ZONjmsFwBmXpZ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E5E22D-11A9-47EB-837A-708205F9FC91}">
  <a:tblStyle styleId="{D4E5E22D-11A9-47EB-837A-708205F9FC9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1"/>
  </p:normalViewPr>
  <p:slideViewPr>
    <p:cSldViewPr snapToGrid="0">
      <p:cViewPr>
        <p:scale>
          <a:sx n="52" d="100"/>
          <a:sy n="52" d="100"/>
        </p:scale>
        <p:origin x="1800" y="-4792"/>
      </p:cViewPr>
      <p:guideLst>
        <p:guide orient="horz" pos="265"/>
        <p:guide orient="horz" pos="18541"/>
        <p:guide pos="1319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font" Target="fonts/font3.fntdata"/><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presProps" Target="presProps.xml"/><Relationship Id="rId5" Type="http://schemas.openxmlformats.org/officeDocument/2006/relationships/font" Target="fonts/font1.fntdata"/><Relationship Id="rId10" Type="http://customschemas.google.com/relationships/presentationmetadata" Target="metadata"/><Relationship Id="rId4"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41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a:spLocks noGrp="1" noRot="1" noChangeAspect="1"/>
          </p:cNvSpPr>
          <p:nvPr>
            <p:ph type="sldImg" idx="2"/>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6" name="Google Shape;4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1 Template">
  <p:cSld name="A1 Template">
    <p:spTree>
      <p:nvGrpSpPr>
        <p:cNvPr id="1" name="Shape 13"/>
        <p:cNvGrpSpPr/>
        <p:nvPr/>
      </p:nvGrpSpPr>
      <p:grpSpPr>
        <a:xfrm>
          <a:off x="0" y="0"/>
          <a:ext cx="0" cy="0"/>
          <a:chOff x="0" y="0"/>
          <a:chExt cx="0" cy="0"/>
        </a:xfrm>
      </p:grpSpPr>
      <p:sp>
        <p:nvSpPr>
          <p:cNvPr id="14" name="Google Shape;14;p3"/>
          <p:cNvSpPr txBox="1">
            <a:spLocks noGrp="1"/>
          </p:cNvSpPr>
          <p:nvPr>
            <p:ph type="body" idx="1"/>
          </p:nvPr>
        </p:nvSpPr>
        <p:spPr>
          <a:xfrm>
            <a:off x="440616" y="5365571"/>
            <a:ext cx="10101856"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15" name="Google Shape;15;p3"/>
          <p:cNvSpPr txBox="1">
            <a:spLocks noGrp="1"/>
          </p:cNvSpPr>
          <p:nvPr>
            <p:ph type="body" idx="2"/>
          </p:nvPr>
        </p:nvSpPr>
        <p:spPr>
          <a:xfrm>
            <a:off x="449463" y="4842926"/>
            <a:ext cx="10093882"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16" name="Google Shape;16;p3"/>
          <p:cNvSpPr txBox="1">
            <a:spLocks noGrp="1"/>
          </p:cNvSpPr>
          <p:nvPr>
            <p:ph type="body" idx="3"/>
          </p:nvPr>
        </p:nvSpPr>
        <p:spPr>
          <a:xfrm>
            <a:off x="449461" y="13071318"/>
            <a:ext cx="10096349"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body" idx="4"/>
          </p:nvPr>
        </p:nvSpPr>
        <p:spPr>
          <a:xfrm>
            <a:off x="10846594" y="4842926"/>
            <a:ext cx="10093752"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18" name="Google Shape;18;p3"/>
          <p:cNvSpPr txBox="1">
            <a:spLocks noGrp="1"/>
          </p:cNvSpPr>
          <p:nvPr>
            <p:ph type="body" idx="5"/>
          </p:nvPr>
        </p:nvSpPr>
        <p:spPr>
          <a:xfrm>
            <a:off x="10846594" y="5365571"/>
            <a:ext cx="10093752"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body" idx="6"/>
          </p:nvPr>
        </p:nvSpPr>
        <p:spPr>
          <a:xfrm>
            <a:off x="10846595" y="13087287"/>
            <a:ext cx="10090978"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body" idx="7"/>
          </p:nvPr>
        </p:nvSpPr>
        <p:spPr>
          <a:xfrm>
            <a:off x="10842726" y="13648379"/>
            <a:ext cx="10094847"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body" idx="8"/>
          </p:nvPr>
        </p:nvSpPr>
        <p:spPr>
          <a:xfrm>
            <a:off x="10854419" y="23617471"/>
            <a:ext cx="10085926"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body" idx="9"/>
          </p:nvPr>
        </p:nvSpPr>
        <p:spPr>
          <a:xfrm>
            <a:off x="10846595" y="24192709"/>
            <a:ext cx="10090978"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13"/>
          </p:nvPr>
        </p:nvSpPr>
        <p:spPr>
          <a:xfrm>
            <a:off x="440616" y="13633726"/>
            <a:ext cx="10102728"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body" idx="14"/>
          </p:nvPr>
        </p:nvSpPr>
        <p:spPr>
          <a:xfrm>
            <a:off x="2890078" y="3554249"/>
            <a:ext cx="15608232" cy="769233"/>
          </a:xfrm>
          <a:prstGeom prst="rect">
            <a:avLst/>
          </a:prstGeom>
          <a:noFill/>
          <a:ln>
            <a:noFill/>
          </a:ln>
        </p:spPr>
        <p:txBody>
          <a:bodyPr spcFirstLastPara="1" wrap="square" lIns="54675" tIns="27325" rIns="54675" bIns="27325" anchor="t" anchorCtr="0">
            <a:normAutofit/>
          </a:bodyPr>
          <a:lstStyle>
            <a:lvl1pPr marL="457200" marR="0" lvl="0" indent="-228600" algn="ctr" rtl="0">
              <a:spcBef>
                <a:spcPts val="860"/>
              </a:spcBef>
              <a:spcAft>
                <a:spcPts val="0"/>
              </a:spcAft>
              <a:buClr>
                <a:srgbClr val="1F3864"/>
              </a:buClr>
              <a:buSzPts val="4300"/>
              <a:buFont typeface="Arial"/>
              <a:buNone/>
              <a:defRPr sz="4300" b="0"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body" idx="15"/>
          </p:nvPr>
        </p:nvSpPr>
        <p:spPr>
          <a:xfrm>
            <a:off x="2890078" y="2235565"/>
            <a:ext cx="15608232" cy="1318684"/>
          </a:xfrm>
          <a:prstGeom prst="rect">
            <a:avLst/>
          </a:prstGeom>
          <a:noFill/>
          <a:ln>
            <a:noFill/>
          </a:ln>
        </p:spPr>
        <p:txBody>
          <a:bodyPr spcFirstLastPara="1" wrap="square" lIns="54675" tIns="27325" rIns="54675" bIns="27325" anchor="t" anchorCtr="1">
            <a:normAutofit/>
          </a:bodyPr>
          <a:lstStyle>
            <a:lvl1pPr marL="457200" marR="0" lvl="0" indent="-228600" algn="ctr" rtl="0">
              <a:spcBef>
                <a:spcPts val="1380"/>
              </a:spcBef>
              <a:spcAft>
                <a:spcPts val="0"/>
              </a:spcAft>
              <a:buClr>
                <a:srgbClr val="1F3864"/>
              </a:buClr>
              <a:buSzPts val="6900"/>
              <a:buFont typeface="Arial"/>
              <a:buNone/>
              <a:defRPr sz="6900" b="0"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16"/>
          </p:nvPr>
        </p:nvSpPr>
        <p:spPr>
          <a:xfrm>
            <a:off x="2890078" y="348658"/>
            <a:ext cx="15608232" cy="1886907"/>
          </a:xfrm>
          <a:prstGeom prst="rect">
            <a:avLst/>
          </a:prstGeom>
          <a:noFill/>
          <a:ln>
            <a:noFill/>
          </a:ln>
        </p:spPr>
        <p:txBody>
          <a:bodyPr spcFirstLastPara="1" wrap="square" lIns="54675" tIns="27325" rIns="54675" bIns="27325" anchor="t" anchorCtr="1">
            <a:normAutofit/>
          </a:bodyPr>
          <a:lstStyle>
            <a:lvl1pPr marL="457200" marR="0" lvl="0" indent="-228600" algn="ctr" rtl="0">
              <a:spcBef>
                <a:spcPts val="1980"/>
              </a:spcBef>
              <a:spcAft>
                <a:spcPts val="0"/>
              </a:spcAft>
              <a:buClr>
                <a:srgbClr val="1F3864"/>
              </a:buClr>
              <a:buSzPts val="9900"/>
              <a:buFont typeface="Arial"/>
              <a:buNone/>
              <a:defRPr sz="9900" b="1"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ithout Guides">
  <p:cSld name="Without Guides">
    <p:spTree>
      <p:nvGrpSpPr>
        <p:cNvPr id="1" name="Shape 29"/>
        <p:cNvGrpSpPr/>
        <p:nvPr/>
      </p:nvGrpSpPr>
      <p:grpSpPr>
        <a:xfrm>
          <a:off x="0" y="0"/>
          <a:ext cx="0" cy="0"/>
          <a:chOff x="0" y="0"/>
          <a:chExt cx="0" cy="0"/>
        </a:xfrm>
      </p:grpSpPr>
      <p:sp>
        <p:nvSpPr>
          <p:cNvPr id="30" name="Google Shape;30;p5"/>
          <p:cNvSpPr txBox="1">
            <a:spLocks noGrp="1"/>
          </p:cNvSpPr>
          <p:nvPr>
            <p:ph type="body" idx="1"/>
          </p:nvPr>
        </p:nvSpPr>
        <p:spPr>
          <a:xfrm>
            <a:off x="440616" y="5365571"/>
            <a:ext cx="10101856"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1" name="Google Shape;31;p5"/>
          <p:cNvSpPr txBox="1">
            <a:spLocks noGrp="1"/>
          </p:cNvSpPr>
          <p:nvPr>
            <p:ph type="body" idx="2"/>
          </p:nvPr>
        </p:nvSpPr>
        <p:spPr>
          <a:xfrm>
            <a:off x="449463" y="4842926"/>
            <a:ext cx="10093882"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3"/>
          </p:nvPr>
        </p:nvSpPr>
        <p:spPr>
          <a:xfrm>
            <a:off x="449461" y="13071318"/>
            <a:ext cx="10096349"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body" idx="4"/>
          </p:nvPr>
        </p:nvSpPr>
        <p:spPr>
          <a:xfrm>
            <a:off x="10846594" y="4842926"/>
            <a:ext cx="10093752"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body" idx="5"/>
          </p:nvPr>
        </p:nvSpPr>
        <p:spPr>
          <a:xfrm>
            <a:off x="10846594" y="5365571"/>
            <a:ext cx="10093752"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body" idx="6"/>
          </p:nvPr>
        </p:nvSpPr>
        <p:spPr>
          <a:xfrm>
            <a:off x="10846595" y="13087287"/>
            <a:ext cx="10090978"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7"/>
          </p:nvPr>
        </p:nvSpPr>
        <p:spPr>
          <a:xfrm>
            <a:off x="10842726" y="13648379"/>
            <a:ext cx="10094847"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body" idx="8"/>
          </p:nvPr>
        </p:nvSpPr>
        <p:spPr>
          <a:xfrm>
            <a:off x="10854419" y="23617471"/>
            <a:ext cx="10085926" cy="566030"/>
          </a:xfrm>
          <a:prstGeom prst="rect">
            <a:avLst/>
          </a:prstGeom>
          <a:noFill/>
          <a:ln>
            <a:noFill/>
          </a:ln>
        </p:spPr>
        <p:txBody>
          <a:bodyPr spcFirstLastPara="1" wrap="square" lIns="63300" tIns="63300" rIns="63300" bIns="63300" anchor="ctr" anchorCtr="0">
            <a:spAutoFit/>
          </a:bodyPr>
          <a:lstStyle>
            <a:lvl1pPr marL="457200" marR="0" lvl="0" indent="-228600" algn="ctr" rtl="0">
              <a:spcBef>
                <a:spcPts val="560"/>
              </a:spcBef>
              <a:spcAft>
                <a:spcPts val="0"/>
              </a:spcAft>
              <a:buClr>
                <a:srgbClr val="1F3864"/>
              </a:buClr>
              <a:buSzPts val="2800"/>
              <a:buFont typeface="Arial"/>
              <a:buNone/>
              <a:defRPr sz="2800" b="1" i="0" u="sng" strike="noStrike" cap="none">
                <a:solidFill>
                  <a:srgbClr val="1F3864"/>
                </a:solidFill>
                <a:latin typeface="Calibri"/>
                <a:ea typeface="Calibri"/>
                <a:cs typeface="Calibri"/>
                <a:sym typeface="Calibri"/>
              </a:defRPr>
            </a:lvl1pPr>
            <a:lvl2pPr marL="914400" marR="0" lvl="1" indent="-825500" algn="l" rtl="0">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2pPr>
            <a:lvl3pPr marL="1371600" marR="0" lvl="2" indent="-736600" algn="l" rtl="0">
              <a:spcBef>
                <a:spcPts val="16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4pPr>
            <a:lvl5pPr marL="2286000" marR="0" lvl="4"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body" idx="9"/>
          </p:nvPr>
        </p:nvSpPr>
        <p:spPr>
          <a:xfrm>
            <a:off x="10846595" y="24192709"/>
            <a:ext cx="10090978"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body" idx="13"/>
          </p:nvPr>
        </p:nvSpPr>
        <p:spPr>
          <a:xfrm>
            <a:off x="440616" y="13633726"/>
            <a:ext cx="10102728" cy="634878"/>
          </a:xfrm>
          <a:prstGeom prst="rect">
            <a:avLst/>
          </a:prstGeom>
          <a:noFill/>
          <a:ln>
            <a:noFill/>
          </a:ln>
        </p:spPr>
        <p:txBody>
          <a:bodyPr spcFirstLastPara="1" wrap="square" lIns="158250" tIns="158250" rIns="158250" bIns="158250" anchor="t" anchorCtr="0">
            <a:spAutoFit/>
          </a:bodyPr>
          <a:lstStyle>
            <a:lvl1pPr marL="457200" marR="0" lvl="0" indent="-228600" algn="l" rtl="0">
              <a:spcBef>
                <a:spcPts val="400"/>
              </a:spcBef>
              <a:spcAft>
                <a:spcPts val="0"/>
              </a:spcAft>
              <a:buClr>
                <a:srgbClr val="1F3864"/>
              </a:buClr>
              <a:buSzPts val="2000"/>
              <a:buFont typeface="Arial"/>
              <a:buNone/>
              <a:defRPr sz="2000" b="0" i="0" u="none" strike="noStrike" cap="none">
                <a:solidFill>
                  <a:srgbClr val="1F3864"/>
                </a:solidFill>
                <a:latin typeface="Times New Roman"/>
                <a:ea typeface="Times New Roman"/>
                <a:cs typeface="Times New Roman"/>
                <a:sym typeface="Times New Roman"/>
              </a:defRPr>
            </a:lvl1pPr>
            <a:lvl2pPr marL="914400" marR="0" lvl="1"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2pPr>
            <a:lvl3pPr marL="1371600" marR="0" lvl="2"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3pPr>
            <a:lvl4pPr marL="1828800" marR="0" lvl="3"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4pPr>
            <a:lvl5pPr marL="2286000" marR="0" lvl="4" indent="-336550" algn="l" rtl="0">
              <a:spcBef>
                <a:spcPts val="340"/>
              </a:spcBef>
              <a:spcAft>
                <a:spcPts val="0"/>
              </a:spcAft>
              <a:buClr>
                <a:schemeClr val="dk1"/>
              </a:buClr>
              <a:buSzPts val="1700"/>
              <a:buFont typeface="Arial"/>
              <a:buChar char="»"/>
              <a:defRPr sz="1700" b="0" i="0" u="none" strike="noStrike" cap="none">
                <a:solidFill>
                  <a:schemeClr val="dk1"/>
                </a:solidFill>
                <a:latin typeface="Trebuchet MS"/>
                <a:ea typeface="Trebuchet MS"/>
                <a:cs typeface="Trebuchet MS"/>
                <a:sym typeface="Trebuchet MS"/>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40" name="Google Shape;40;p5"/>
          <p:cNvSpPr txBox="1">
            <a:spLocks noGrp="1"/>
          </p:cNvSpPr>
          <p:nvPr>
            <p:ph type="body" idx="14"/>
          </p:nvPr>
        </p:nvSpPr>
        <p:spPr>
          <a:xfrm>
            <a:off x="2890078" y="3554249"/>
            <a:ext cx="15608232" cy="769233"/>
          </a:xfrm>
          <a:prstGeom prst="rect">
            <a:avLst/>
          </a:prstGeom>
          <a:noFill/>
          <a:ln>
            <a:noFill/>
          </a:ln>
        </p:spPr>
        <p:txBody>
          <a:bodyPr spcFirstLastPara="1" wrap="square" lIns="54675" tIns="27325" rIns="54675" bIns="27325" anchor="t" anchorCtr="0">
            <a:normAutofit/>
          </a:bodyPr>
          <a:lstStyle>
            <a:lvl1pPr marL="457200" marR="0" lvl="0" indent="-228600" algn="ctr" rtl="0">
              <a:spcBef>
                <a:spcPts val="860"/>
              </a:spcBef>
              <a:spcAft>
                <a:spcPts val="0"/>
              </a:spcAft>
              <a:buClr>
                <a:srgbClr val="1F3864"/>
              </a:buClr>
              <a:buSzPts val="4300"/>
              <a:buFont typeface="Arial"/>
              <a:buNone/>
              <a:defRPr sz="4300" b="0"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41" name="Google Shape;41;p5"/>
          <p:cNvSpPr txBox="1">
            <a:spLocks noGrp="1"/>
          </p:cNvSpPr>
          <p:nvPr>
            <p:ph type="body" idx="15"/>
          </p:nvPr>
        </p:nvSpPr>
        <p:spPr>
          <a:xfrm>
            <a:off x="2890078" y="2235565"/>
            <a:ext cx="15608232" cy="1318684"/>
          </a:xfrm>
          <a:prstGeom prst="rect">
            <a:avLst/>
          </a:prstGeom>
          <a:noFill/>
          <a:ln>
            <a:noFill/>
          </a:ln>
        </p:spPr>
        <p:txBody>
          <a:bodyPr spcFirstLastPara="1" wrap="square" lIns="54675" tIns="27325" rIns="54675" bIns="27325" anchor="t" anchorCtr="1">
            <a:normAutofit/>
          </a:bodyPr>
          <a:lstStyle>
            <a:lvl1pPr marL="457200" marR="0" lvl="0" indent="-228600" algn="ctr" rtl="0">
              <a:spcBef>
                <a:spcPts val="1380"/>
              </a:spcBef>
              <a:spcAft>
                <a:spcPts val="0"/>
              </a:spcAft>
              <a:buClr>
                <a:srgbClr val="1F3864"/>
              </a:buClr>
              <a:buSzPts val="6900"/>
              <a:buFont typeface="Arial"/>
              <a:buNone/>
              <a:defRPr sz="6900" b="0"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
        <p:nvSpPr>
          <p:cNvPr id="42" name="Google Shape;42;p5"/>
          <p:cNvSpPr txBox="1">
            <a:spLocks noGrp="1"/>
          </p:cNvSpPr>
          <p:nvPr>
            <p:ph type="body" idx="16"/>
          </p:nvPr>
        </p:nvSpPr>
        <p:spPr>
          <a:xfrm>
            <a:off x="2890078" y="348658"/>
            <a:ext cx="15608232" cy="1886907"/>
          </a:xfrm>
          <a:prstGeom prst="rect">
            <a:avLst/>
          </a:prstGeom>
          <a:noFill/>
          <a:ln>
            <a:noFill/>
          </a:ln>
        </p:spPr>
        <p:txBody>
          <a:bodyPr spcFirstLastPara="1" wrap="square" lIns="54675" tIns="27325" rIns="54675" bIns="27325" anchor="t" anchorCtr="1">
            <a:normAutofit/>
          </a:bodyPr>
          <a:lstStyle>
            <a:lvl1pPr marL="457200" marR="0" lvl="0" indent="-228600" algn="ctr" rtl="0">
              <a:spcBef>
                <a:spcPts val="1980"/>
              </a:spcBef>
              <a:spcAft>
                <a:spcPts val="0"/>
              </a:spcAft>
              <a:buClr>
                <a:srgbClr val="1F3864"/>
              </a:buClr>
              <a:buSzPts val="9900"/>
              <a:buFont typeface="Arial"/>
              <a:buNone/>
              <a:defRPr sz="9900" b="1" i="0" u="none" strike="noStrike" cap="none">
                <a:solidFill>
                  <a:srgbClr val="1F3864"/>
                </a:solidFill>
                <a:latin typeface="Calibri"/>
                <a:ea typeface="Calibri"/>
                <a:cs typeface="Calibri"/>
                <a:sym typeface="Calibri"/>
              </a:defRPr>
            </a:lvl1pPr>
            <a:lvl2pPr marL="914400" marR="0" lvl="1"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2pPr>
            <a:lvl3pPr marL="1371600" marR="0" lvl="2"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3pPr>
            <a:lvl4pPr marL="1828800" marR="0" lvl="3"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4pPr>
            <a:lvl5pPr marL="2286000" marR="0" lvl="4" indent="-228600" algn="l" rtl="0">
              <a:spcBef>
                <a:spcPts val="860"/>
              </a:spcBef>
              <a:spcAft>
                <a:spcPts val="0"/>
              </a:spcAft>
              <a:buClr>
                <a:schemeClr val="dk1"/>
              </a:buClr>
              <a:buSzPts val="4300"/>
              <a:buFont typeface="Arial"/>
              <a:buNone/>
              <a:defRPr sz="4300" b="0" i="0" u="none" strike="noStrike" cap="none">
                <a:solidFill>
                  <a:schemeClr val="dk1"/>
                </a:solidFill>
                <a:latin typeface="Calibri"/>
                <a:ea typeface="Calibri"/>
                <a:cs typeface="Calibri"/>
                <a:sym typeface="Calibri"/>
              </a:defRPr>
            </a:lvl5pPr>
            <a:lvl6pPr marL="2743200" marR="0" lvl="5"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6pPr>
            <a:lvl7pPr marL="3200400" marR="0" lvl="6"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7pPr>
            <a:lvl8pPr marL="3657600" marR="0" lvl="7"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8pPr>
            <a:lvl9pPr marL="4114800" marR="0" lvl="8" indent="-654050" algn="l" rtl="0">
              <a:spcBef>
                <a:spcPts val="1340"/>
              </a:spcBef>
              <a:spcAft>
                <a:spcPts val="0"/>
              </a:spcAft>
              <a:buClr>
                <a:schemeClr val="dk1"/>
              </a:buClr>
              <a:buSzPts val="6700"/>
              <a:buFont typeface="Arial"/>
              <a:buChar char="•"/>
              <a:defRPr sz="67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p:nvPr/>
        </p:nvSpPr>
        <p:spPr>
          <a:xfrm>
            <a:off x="1086753" y="29699043"/>
            <a:ext cx="1578661" cy="230633"/>
          </a:xfrm>
          <a:prstGeom prst="rect">
            <a:avLst/>
          </a:prstGeom>
          <a:noFill/>
          <a:ln>
            <a:noFill/>
          </a:ln>
        </p:spPr>
        <p:txBody>
          <a:bodyPr spcFirstLastPara="1" wrap="square" lIns="63175" tIns="31575" rIns="63175" bIns="31575" anchor="t" anchorCtr="0">
            <a:spAutoFit/>
          </a:bodyPr>
          <a:lstStyle/>
          <a:p>
            <a:pPr marL="0" marR="0" lvl="0" indent="0" algn="l" rtl="0">
              <a:lnSpc>
                <a:spcPct val="65000"/>
              </a:lnSpc>
              <a:spcBef>
                <a:spcPts val="0"/>
              </a:spcBef>
              <a:spcAft>
                <a:spcPts val="0"/>
              </a:spcAft>
              <a:buNone/>
            </a:pPr>
            <a:r>
              <a:rPr lang="en-US" sz="400" b="1" i="0" u="none" strike="noStrike" cap="none">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350"/>
              </a:spcBef>
              <a:spcAft>
                <a:spcPts val="0"/>
              </a:spcAft>
              <a:buNone/>
            </a:pPr>
            <a:r>
              <a:rPr lang="en-US" sz="700" b="1" i="0" u="none" strike="noStrike" cap="none">
                <a:solidFill>
                  <a:srgbClr val="BFBFBF"/>
                </a:solidFill>
                <a:latin typeface="Arial"/>
                <a:ea typeface="Arial"/>
                <a:cs typeface="Arial"/>
                <a:sym typeface="Arial"/>
              </a:rPr>
              <a:t>www.PosterPresentations.com</a:t>
            </a:r>
            <a:endParaRPr/>
          </a:p>
        </p:txBody>
      </p:sp>
      <p:graphicFrame>
        <p:nvGraphicFramePr>
          <p:cNvPr id="11" name="Google Shape;11;p2"/>
          <p:cNvGraphicFramePr/>
          <p:nvPr/>
        </p:nvGraphicFramePr>
        <p:xfrm>
          <a:off x="-8726467" y="34253"/>
          <a:ext cx="8117850" cy="30210600"/>
        </p:xfrm>
        <a:graphic>
          <a:graphicData uri="http://schemas.openxmlformats.org/drawingml/2006/table">
            <a:tbl>
              <a:tblPr firstRow="1" bandRow="1">
                <a:noFill/>
                <a:tableStyleId>{D4E5E22D-11A9-47EB-837A-708205F9FC91}</a:tableStyleId>
              </a:tblPr>
              <a:tblGrid>
                <a:gridCol w="3480875">
                  <a:extLst>
                    <a:ext uri="{9D8B030D-6E8A-4147-A177-3AD203B41FA5}">
                      <a16:colId xmlns:a16="http://schemas.microsoft.com/office/drawing/2014/main" val="20000"/>
                    </a:ext>
                  </a:extLst>
                </a:gridCol>
                <a:gridCol w="4636975">
                  <a:extLst>
                    <a:ext uri="{9D8B030D-6E8A-4147-A177-3AD203B41FA5}">
                      <a16:colId xmlns:a16="http://schemas.microsoft.com/office/drawing/2014/main" val="20001"/>
                    </a:ext>
                  </a:extLst>
                </a:gridCol>
              </a:tblGrid>
              <a:tr h="1170750">
                <a:tc gridSpan="2">
                  <a:txBody>
                    <a:bodyPr/>
                    <a:lstStyle/>
                    <a:p>
                      <a:pPr marL="0" marR="0" lvl="0" indent="0" algn="ctr" rtl="0">
                        <a:lnSpc>
                          <a:spcPct val="100000"/>
                        </a:lnSpc>
                        <a:spcBef>
                          <a:spcPts val="0"/>
                        </a:spcBef>
                        <a:spcAft>
                          <a:spcPts val="0"/>
                        </a:spcAft>
                        <a:buClr>
                          <a:srgbClr val="1F3A4E"/>
                        </a:buClr>
                        <a:buSzPts val="3200"/>
                        <a:buFont typeface="Arial Black"/>
                        <a:buNone/>
                      </a:pPr>
                      <a:r>
                        <a:rPr lang="en-US" sz="3200" b="0" u="none" strike="noStrike" cap="none">
                          <a:solidFill>
                            <a:srgbClr val="1F3A4E"/>
                          </a:solidFill>
                          <a:latin typeface="Arial Black"/>
                          <a:ea typeface="Arial Black"/>
                          <a:cs typeface="Arial Black"/>
                          <a:sym typeface="Arial Black"/>
                        </a:rPr>
                        <a:t>QUICK START GUIDE</a:t>
                      </a:r>
                      <a:br>
                        <a:rPr lang="en-US" sz="3200" b="0" u="none" strike="noStrike" cap="none">
                          <a:solidFill>
                            <a:srgbClr val="1F3A4E"/>
                          </a:solidFill>
                          <a:latin typeface="Arial Black"/>
                          <a:ea typeface="Arial Black"/>
                          <a:cs typeface="Arial Black"/>
                          <a:sym typeface="Arial Black"/>
                        </a:rPr>
                      </a:br>
                      <a:r>
                        <a:rPr lang="en-US" sz="2400" b="1" u="none" strike="noStrike" cap="none">
                          <a:solidFill>
                            <a:srgbClr val="FF0000"/>
                          </a:solidFill>
                          <a:latin typeface="Trebuchet MS"/>
                          <a:ea typeface="Trebuchet MS"/>
                          <a:cs typeface="Trebuchet MS"/>
                          <a:sym typeface="Trebuchet MS"/>
                        </a:rPr>
                        <a:t>(THIS SIDEBAR WILL NOT PRINT)</a:t>
                      </a:r>
                      <a:endParaRPr sz="32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TH"/>
                    </a:p>
                  </a:txBody>
                  <a:tcPr/>
                </a:tc>
                <a:extLst>
                  <a:ext uri="{0D108BD9-81ED-4DB2-BD59-A6C34878D82A}">
                    <a16:rowId xmlns:a16="http://schemas.microsoft.com/office/drawing/2014/main" val="10000"/>
                  </a:ext>
                </a:extLst>
              </a:tr>
              <a:tr h="3598925">
                <a:tc gridSpan="2">
                  <a:txBody>
                    <a:bodyPr/>
                    <a:lstStyle/>
                    <a:p>
                      <a:pPr marL="0" marR="0" lvl="0" indent="0" algn="l" rtl="0">
                        <a:spcBef>
                          <a:spcPts val="0"/>
                        </a:spcBef>
                        <a:spcAft>
                          <a:spcPts val="0"/>
                        </a:spcAft>
                        <a:buNone/>
                      </a:pPr>
                      <a:r>
                        <a:rPr lang="en-US" sz="1800" i="0" u="none" strike="noStrike" cap="none">
                          <a:solidFill>
                            <a:srgbClr val="D9D9D9"/>
                          </a:solidFill>
                          <a:latin typeface="Arial"/>
                          <a:ea typeface="Arial"/>
                          <a:cs typeface="Arial"/>
                          <a:sym typeface="Arial"/>
                        </a:rPr>
                        <a:t>This PowerPoint template produces a </a:t>
                      </a:r>
                      <a:r>
                        <a:rPr lang="en-US" sz="1800" i="0" u="none" strike="noStrike" cap="none">
                          <a:solidFill>
                            <a:srgbClr val="FFC000"/>
                          </a:solidFill>
                          <a:latin typeface="Arial"/>
                          <a:ea typeface="Arial"/>
                          <a:cs typeface="Arial"/>
                          <a:sym typeface="Arial"/>
                        </a:rPr>
                        <a:t>A1 </a:t>
                      </a:r>
                      <a:r>
                        <a:rPr lang="en-US" sz="18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18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18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1800" i="0" u="none" strike="noStrike" cap="none">
                          <a:solidFill>
                            <a:srgbClr val="FFC000"/>
                          </a:solidFill>
                          <a:latin typeface="Arial"/>
                          <a:ea typeface="Arial"/>
                          <a:cs typeface="Arial"/>
                          <a:sym typeface="Arial"/>
                        </a:rPr>
                        <a:t>PosterPresentations.com</a:t>
                      </a:r>
                      <a:r>
                        <a:rPr lang="en-US" sz="1800" i="0" u="none" strike="noStrike" cap="none">
                          <a:solidFill>
                            <a:srgbClr val="D9D9D9"/>
                          </a:solidFill>
                          <a:latin typeface="Arial"/>
                          <a:ea typeface="Arial"/>
                          <a:cs typeface="Arial"/>
                          <a:sym typeface="Arial"/>
                        </a:rPr>
                        <a:t> and click on the  </a:t>
                      </a:r>
                      <a:r>
                        <a:rPr lang="en-US" sz="1800" i="0" u="none" strike="noStrike" cap="none">
                          <a:solidFill>
                            <a:srgbClr val="FFC000"/>
                          </a:solidFill>
                          <a:latin typeface="Arial"/>
                          <a:ea typeface="Arial"/>
                          <a:cs typeface="Arial"/>
                          <a:sym typeface="Arial"/>
                        </a:rPr>
                        <a:t>HELP DESK</a:t>
                      </a:r>
                      <a:r>
                        <a:rPr lang="en-US" sz="18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18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1800" i="0" u="none" strike="noStrike" cap="none">
                          <a:solidFill>
                            <a:srgbClr val="D9D9D9"/>
                          </a:solidFill>
                          <a:latin typeface="Arial"/>
                          <a:ea typeface="Arial"/>
                          <a:cs typeface="Arial"/>
                          <a:sym typeface="Arial"/>
                        </a:rPr>
                        <a:t>To print your poster using our same-day professional printing service, go online to </a:t>
                      </a:r>
                      <a:r>
                        <a:rPr lang="en-US" sz="1800" i="0" u="none" strike="noStrike" cap="none">
                          <a:solidFill>
                            <a:srgbClr val="FFC000"/>
                          </a:solidFill>
                          <a:latin typeface="Arial"/>
                          <a:ea typeface="Arial"/>
                          <a:cs typeface="Arial"/>
                          <a:sym typeface="Arial"/>
                        </a:rPr>
                        <a:t>PosterPresentations.com</a:t>
                      </a:r>
                      <a:r>
                        <a:rPr lang="en-US" sz="1800" i="0" u="none" strike="noStrike" cap="none">
                          <a:solidFill>
                            <a:srgbClr val="D9D9D9"/>
                          </a:solidFill>
                          <a:latin typeface="Arial"/>
                          <a:ea typeface="Arial"/>
                          <a:cs typeface="Arial"/>
                          <a:sym typeface="Arial"/>
                        </a:rPr>
                        <a:t> and click on "</a:t>
                      </a:r>
                      <a:r>
                        <a:rPr lang="en-US" sz="1800" i="0" u="none" strike="noStrike" cap="none">
                          <a:solidFill>
                            <a:srgbClr val="FFC000"/>
                          </a:solidFill>
                          <a:latin typeface="Arial"/>
                          <a:ea typeface="Arial"/>
                          <a:cs typeface="Arial"/>
                          <a:sym typeface="Arial"/>
                        </a:rPr>
                        <a:t>Order your poster</a:t>
                      </a:r>
                      <a:r>
                        <a:rPr lang="en-US" sz="1800" i="0" u="none" strike="noStrike" cap="none">
                          <a:solidFill>
                            <a:srgbClr val="D9D9D9"/>
                          </a:solidFill>
                          <a:latin typeface="Arial"/>
                          <a:ea typeface="Arial"/>
                          <a:cs typeface="Arial"/>
                          <a:sym typeface="Arial"/>
                        </a:rPr>
                        <a:t>".</a:t>
                      </a:r>
                      <a:endParaRPr sz="18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TH"/>
                    </a:p>
                  </a:txBody>
                  <a:tcPr/>
                </a:tc>
                <a:extLst>
                  <a:ext uri="{0D108BD9-81ED-4DB2-BD59-A6C34878D82A}">
                    <a16:rowId xmlns:a16="http://schemas.microsoft.com/office/drawing/2014/main" val="10001"/>
                  </a:ext>
                </a:extLst>
              </a:tr>
              <a:tr h="4292700">
                <a:tc>
                  <a:txBody>
                    <a:bodyPr/>
                    <a:lstStyle/>
                    <a:p>
                      <a:pPr marL="0" marR="0" lvl="0" indent="0" algn="ctr" rtl="0">
                        <a:spcBef>
                          <a:spcPts val="0"/>
                        </a:spcBef>
                        <a:spcAft>
                          <a:spcPts val="0"/>
                        </a:spcAft>
                        <a:buNone/>
                      </a:pPr>
                      <a:endParaRPr sz="1800" u="none" strike="noStrike" cap="none">
                        <a:solidFill>
                          <a:srgbClr val="1F3A4E"/>
                        </a:solidFill>
                      </a:endParaRPr>
                    </a:p>
                    <a:p>
                      <a:pPr marL="0" marR="0" lvl="0" indent="0" algn="ctr" rtl="0">
                        <a:spcBef>
                          <a:spcPts val="0"/>
                        </a:spcBef>
                        <a:spcAft>
                          <a:spcPts val="0"/>
                        </a:spcAft>
                        <a:buNone/>
                      </a:pPr>
                      <a:endParaRPr sz="1800" u="none" strike="noStrike" cap="none">
                        <a:solidFill>
                          <a:srgbClr val="1F3A4E"/>
                        </a:solidFill>
                      </a:endParaRPr>
                    </a:p>
                    <a:p>
                      <a:pPr marL="0" marR="0" lvl="0" indent="0" algn="ctr" rtl="0">
                        <a:spcBef>
                          <a:spcPts val="0"/>
                        </a:spcBef>
                        <a:spcAft>
                          <a:spcPts val="0"/>
                        </a:spcAft>
                        <a:buNone/>
                      </a:pPr>
                      <a:r>
                        <a:rPr lang="en-US" sz="1800" u="none" strike="noStrike" cap="none">
                          <a:solidFill>
                            <a:schemeClr val="lt1"/>
                          </a:solidFill>
                          <a:latin typeface="Arial"/>
                          <a:ea typeface="Arial"/>
                          <a:cs typeface="Arial"/>
                          <a:sym typeface="Arial"/>
                        </a:rPr>
                        <a:t>This is a poster template for a </a:t>
                      </a:r>
                      <a:br>
                        <a:rPr lang="en-US" sz="1800" u="none" strike="noStrike" cap="none">
                          <a:solidFill>
                            <a:schemeClr val="lt1"/>
                          </a:solidFill>
                          <a:latin typeface="Arial"/>
                          <a:ea typeface="Arial"/>
                          <a:cs typeface="Arial"/>
                          <a:sym typeface="Arial"/>
                        </a:rPr>
                      </a:br>
                      <a:r>
                        <a:rPr lang="en-US" sz="3200" b="1" u="none" strike="noStrike" cap="none">
                          <a:solidFill>
                            <a:srgbClr val="FFC000"/>
                          </a:solidFill>
                          <a:latin typeface="Arial"/>
                          <a:ea typeface="Arial"/>
                          <a:cs typeface="Arial"/>
                          <a:sym typeface="Arial"/>
                        </a:rPr>
                        <a:t>A1</a:t>
                      </a:r>
                      <a:endParaRPr/>
                    </a:p>
                    <a:p>
                      <a:pPr marL="0" marR="0" lvl="0" indent="0" algn="ctr" rtl="0">
                        <a:lnSpc>
                          <a:spcPct val="100000"/>
                        </a:lnSpc>
                        <a:spcBef>
                          <a:spcPts val="0"/>
                        </a:spcBef>
                        <a:spcAft>
                          <a:spcPts val="0"/>
                        </a:spcAft>
                        <a:buClr>
                          <a:srgbClr val="FFC000"/>
                        </a:buClr>
                        <a:buSzPts val="1800"/>
                        <a:buFont typeface="Arial"/>
                        <a:buNone/>
                      </a:pPr>
                      <a:r>
                        <a:rPr lang="en-US" sz="1800" u="none" strike="noStrike" cap="none">
                          <a:solidFill>
                            <a:srgbClr val="FFC000"/>
                          </a:solidFill>
                          <a:latin typeface="Arial"/>
                          <a:ea typeface="Arial"/>
                          <a:cs typeface="Arial"/>
                          <a:sym typeface="Arial"/>
                        </a:rPr>
                        <a:t>594mm x 841mm</a:t>
                      </a:r>
                      <a:endParaRPr/>
                    </a:p>
                    <a:p>
                      <a:pPr marL="0" marR="0" lvl="0" indent="0" algn="ctr" rtl="0">
                        <a:lnSpc>
                          <a:spcPct val="100000"/>
                        </a:lnSpc>
                        <a:spcBef>
                          <a:spcPts val="0"/>
                        </a:spcBef>
                        <a:spcAft>
                          <a:spcPts val="0"/>
                        </a:spcAft>
                        <a:buClr>
                          <a:srgbClr val="FFC000"/>
                        </a:buClr>
                        <a:buSzPts val="1800"/>
                        <a:buFont typeface="Arial"/>
                        <a:buNone/>
                      </a:pPr>
                      <a:r>
                        <a:rPr lang="en-US" sz="1800" u="none" strike="noStrike" cap="none">
                          <a:solidFill>
                            <a:srgbClr val="FFC000"/>
                          </a:solidFill>
                          <a:latin typeface="Arial"/>
                          <a:ea typeface="Arial"/>
                          <a:cs typeface="Arial"/>
                          <a:sym typeface="Arial"/>
                        </a:rPr>
                        <a:t>23.39 inches x 33.11 inches</a:t>
                      </a:r>
                      <a:br>
                        <a:rPr lang="en-US" sz="1800" u="none" strike="noStrike" cap="none">
                          <a:solidFill>
                            <a:schemeClr val="lt1"/>
                          </a:solidFill>
                          <a:latin typeface="Arial"/>
                          <a:ea typeface="Arial"/>
                          <a:cs typeface="Arial"/>
                          <a:sym typeface="Arial"/>
                        </a:rPr>
                      </a:br>
                      <a:r>
                        <a:rPr lang="en-US" sz="1800" u="none" strike="noStrike" cap="none">
                          <a:solidFill>
                            <a:schemeClr val="lt1"/>
                          </a:solidFill>
                          <a:latin typeface="Arial"/>
                          <a:ea typeface="Arial"/>
                          <a:cs typeface="Arial"/>
                          <a:sym typeface="Arial"/>
                        </a:rPr>
                        <a:t>research presentation poster</a:t>
                      </a:r>
                      <a:endParaRPr/>
                    </a:p>
                    <a:p>
                      <a:pPr marL="0" marR="0" lvl="0" indent="0" algn="l" rtl="0">
                        <a:spcBef>
                          <a:spcPts val="0"/>
                        </a:spcBef>
                        <a:spcAft>
                          <a:spcPts val="0"/>
                        </a:spcAft>
                        <a:buNone/>
                      </a:pPr>
                      <a:endParaRPr sz="1800">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Important: Check the template size</a:t>
                      </a:r>
                      <a:br>
                        <a:rPr lang="en-US" sz="1800" b="0">
                          <a:solidFill>
                            <a:srgbClr val="FFC000"/>
                          </a:solidFill>
                          <a:latin typeface="Arial"/>
                          <a:ea typeface="Arial"/>
                          <a:cs typeface="Arial"/>
                          <a:sym typeface="Arial"/>
                        </a:rPr>
                      </a:br>
                      <a:r>
                        <a:rPr lang="en-US" sz="1800" b="0">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1800" b="0">
                          <a:solidFill>
                            <a:srgbClr val="D9D9D9"/>
                          </a:solidFill>
                          <a:latin typeface="Arial"/>
                          <a:ea typeface="Arial"/>
                          <a:cs typeface="Arial"/>
                          <a:sym typeface="Arial"/>
                        </a:rPr>
                      </a:br>
                      <a:endParaRPr sz="1800" b="0">
                        <a:solidFill>
                          <a:srgbClr val="FFC000"/>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2"/>
                  </a:ext>
                </a:extLst>
              </a:tr>
              <a:tr h="3340700">
                <a:tc>
                  <a:txBody>
                    <a:bodyPr/>
                    <a:lstStyle/>
                    <a:p>
                      <a:pPr marL="0" marR="0" lvl="0" indent="0" algn="l" rtl="0">
                        <a:spcBef>
                          <a:spcPts val="0"/>
                        </a:spcBef>
                        <a:spcAft>
                          <a:spcPts val="0"/>
                        </a:spcAft>
                        <a:buNone/>
                      </a:pPr>
                      <a:endParaRPr sz="18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000" b="1">
                          <a:solidFill>
                            <a:srgbClr val="FFC000"/>
                          </a:solidFill>
                          <a:latin typeface="Arial"/>
                          <a:ea typeface="Arial"/>
                          <a:cs typeface="Arial"/>
                          <a:sym typeface="Arial"/>
                        </a:rPr>
                        <a:t>How to </a:t>
                      </a:r>
                      <a:r>
                        <a:rPr lang="en-US" sz="3600" b="1">
                          <a:solidFill>
                            <a:srgbClr val="FFC000"/>
                          </a:solidFill>
                          <a:latin typeface="Arial"/>
                          <a:ea typeface="Arial"/>
                          <a:cs typeface="Arial"/>
                          <a:sym typeface="Arial"/>
                        </a:rPr>
                        <a:t>Zoom in </a:t>
                      </a:r>
                      <a:r>
                        <a:rPr lang="en-US" sz="2000" b="1">
                          <a:solidFill>
                            <a:srgbClr val="FFC000"/>
                          </a:solidFill>
                          <a:latin typeface="Arial"/>
                          <a:ea typeface="Arial"/>
                          <a:cs typeface="Arial"/>
                          <a:sym typeface="Arial"/>
                        </a:rPr>
                        <a:t>and </a:t>
                      </a:r>
                      <a:r>
                        <a:rPr lang="en-US" sz="1600" b="1">
                          <a:solidFill>
                            <a:srgbClr val="FFC000"/>
                          </a:solidFill>
                          <a:latin typeface="Arial"/>
                          <a:ea typeface="Arial"/>
                          <a:cs typeface="Arial"/>
                          <a:sym typeface="Arial"/>
                        </a:rPr>
                        <a:t>out</a:t>
                      </a:r>
                      <a:endParaRPr sz="2000" b="1">
                        <a:solidFill>
                          <a:srgbClr val="FFC000"/>
                        </a:solidFill>
                        <a:latin typeface="Arial"/>
                        <a:ea typeface="Arial"/>
                        <a:cs typeface="Arial"/>
                        <a:sym typeface="Arial"/>
                      </a:endParaRPr>
                    </a:p>
                    <a:p>
                      <a:pPr marL="0" marR="0" lvl="0" indent="0" algn="l" rtl="0">
                        <a:spcBef>
                          <a:spcPts val="0"/>
                        </a:spcBef>
                        <a:spcAft>
                          <a:spcPts val="0"/>
                        </a:spcAft>
                        <a:buNone/>
                      </a:pPr>
                      <a:r>
                        <a:rPr lang="en-US" sz="1800" b="0">
                          <a:solidFill>
                            <a:srgbClr val="D9D9D9"/>
                          </a:solidFill>
                          <a:latin typeface="Arial"/>
                          <a:ea typeface="Arial"/>
                          <a:cs typeface="Arial"/>
                          <a:sym typeface="Arial"/>
                        </a:rPr>
                        <a:t>Use the PowerPoint zoom tool to adjust the screen magnification to view comfortably. PowerPoint provides 2 ways to zoom: </a:t>
                      </a:r>
                      <a:br>
                        <a:rPr lang="en-US" sz="1800" b="0">
                          <a:solidFill>
                            <a:srgbClr val="D9D9D9"/>
                          </a:solidFill>
                          <a:latin typeface="Arial"/>
                          <a:ea typeface="Arial"/>
                          <a:cs typeface="Arial"/>
                          <a:sym typeface="Arial"/>
                        </a:rPr>
                      </a:br>
                      <a:r>
                        <a:rPr lang="en-US" sz="1800" b="0">
                          <a:solidFill>
                            <a:srgbClr val="FFC000"/>
                          </a:solidFill>
                          <a:latin typeface="Arial"/>
                          <a:ea typeface="Arial"/>
                          <a:cs typeface="Arial"/>
                          <a:sym typeface="Arial"/>
                        </a:rPr>
                        <a:t>1. </a:t>
                      </a:r>
                      <a:r>
                        <a:rPr lang="en-US" sz="1800" b="0">
                          <a:solidFill>
                            <a:srgbClr val="D9D9D9"/>
                          </a:solidFill>
                          <a:latin typeface="Arial"/>
                          <a:ea typeface="Arial"/>
                          <a:cs typeface="Arial"/>
                          <a:sym typeface="Arial"/>
                        </a:rPr>
                        <a:t>On the top menu bar click on the VIEW tab and then click on ZOOM. Choose the zoom percentage that works best for you. </a:t>
                      </a:r>
                      <a:br>
                        <a:rPr lang="en-US" sz="1800" b="0">
                          <a:solidFill>
                            <a:srgbClr val="D9D9D9"/>
                          </a:solidFill>
                          <a:latin typeface="Arial"/>
                          <a:ea typeface="Arial"/>
                          <a:cs typeface="Arial"/>
                          <a:sym typeface="Arial"/>
                        </a:rPr>
                      </a:br>
                      <a:r>
                        <a:rPr lang="en-US" sz="1800" b="0">
                          <a:solidFill>
                            <a:srgbClr val="FFC000"/>
                          </a:solidFill>
                          <a:latin typeface="Arial"/>
                          <a:ea typeface="Arial"/>
                          <a:cs typeface="Arial"/>
                          <a:sym typeface="Arial"/>
                        </a:rPr>
                        <a:t>2. </a:t>
                      </a:r>
                      <a:r>
                        <a:rPr lang="en-US" sz="18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extLst>
                  <a:ext uri="{0D108BD9-81ED-4DB2-BD59-A6C34878D82A}">
                    <a16:rowId xmlns:a16="http://schemas.microsoft.com/office/drawing/2014/main" val="10003"/>
                  </a:ext>
                </a:extLst>
              </a:tr>
              <a:tr h="1994600">
                <a:tc gridSpan="2">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Ruler and Guides</a:t>
                      </a:r>
                      <a:br>
                        <a:rPr lang="en-US" sz="1800" b="0">
                          <a:solidFill>
                            <a:srgbClr val="FFC000"/>
                          </a:solidFill>
                          <a:latin typeface="Arial"/>
                          <a:ea typeface="Arial"/>
                          <a:cs typeface="Arial"/>
                          <a:sym typeface="Arial"/>
                        </a:rPr>
                      </a:br>
                      <a:r>
                        <a:rPr lang="en-US" sz="18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TH"/>
                    </a:p>
                  </a:txBody>
                  <a:tcPr/>
                </a:tc>
                <a:extLst>
                  <a:ext uri="{0D108BD9-81ED-4DB2-BD59-A6C34878D82A}">
                    <a16:rowId xmlns:a16="http://schemas.microsoft.com/office/drawing/2014/main" val="10004"/>
                  </a:ext>
                </a:extLst>
              </a:tr>
              <a:tr h="3945825">
                <a:tc>
                  <a:txBody>
                    <a:bodyPr/>
                    <a:lstStyle/>
                    <a:p>
                      <a:pPr marL="0" marR="0" lvl="0" indent="0" algn="l" rtl="0">
                        <a:spcBef>
                          <a:spcPts val="0"/>
                        </a:spcBef>
                        <a:spcAft>
                          <a:spcPts val="0"/>
                        </a:spcAft>
                        <a:buNone/>
                      </a:pPr>
                      <a:endParaRPr sz="18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000" b="1" u="none" strike="noStrike" cap="none">
                          <a:solidFill>
                            <a:srgbClr val="FFC000"/>
                          </a:solidFill>
                          <a:latin typeface="Arial"/>
                          <a:ea typeface="Arial"/>
                          <a:cs typeface="Arial"/>
                          <a:sym typeface="Arial"/>
                        </a:rPr>
                        <a:t>Headers and text containers</a:t>
                      </a:r>
                      <a:br>
                        <a:rPr lang="en-US" sz="1800" b="0" u="none" strike="noStrike" cap="none">
                          <a:solidFill>
                            <a:schemeClr val="lt1"/>
                          </a:solidFill>
                          <a:latin typeface="Arial"/>
                          <a:ea typeface="Arial"/>
                          <a:cs typeface="Arial"/>
                          <a:sym typeface="Arial"/>
                        </a:rPr>
                      </a:br>
                      <a:r>
                        <a:rPr lang="en-US" sz="18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1800" b="0" u="none" strike="noStrike" cap="none">
                          <a:solidFill>
                            <a:schemeClr val="lt1"/>
                          </a:solidFill>
                          <a:latin typeface="Arial"/>
                          <a:ea typeface="Arial"/>
                          <a:cs typeface="Arial"/>
                          <a:sym typeface="Arial"/>
                        </a:rPr>
                      </a:br>
                      <a:r>
                        <a:rPr lang="en-US" sz="1800" b="0" u="none" strike="noStrike" cap="none">
                          <a:solidFill>
                            <a:srgbClr val="FFC000"/>
                          </a:solidFill>
                          <a:latin typeface="Arial"/>
                          <a:ea typeface="Arial"/>
                          <a:cs typeface="Arial"/>
                          <a:sym typeface="Arial"/>
                        </a:rPr>
                        <a:t>-</a:t>
                      </a:r>
                      <a:r>
                        <a:rPr lang="en-US" sz="1800" b="0" u="none" strike="noStrike" cap="none">
                          <a:solidFill>
                            <a:schemeClr val="lt1"/>
                          </a:solidFill>
                          <a:latin typeface="Arial"/>
                          <a:ea typeface="Arial"/>
                          <a:cs typeface="Arial"/>
                          <a:sym typeface="Arial"/>
                        </a:rPr>
                        <a:t> </a:t>
                      </a:r>
                      <a:r>
                        <a:rPr lang="en-US" sz="1800" b="0" u="none" strike="noStrike" cap="none">
                          <a:solidFill>
                            <a:srgbClr val="D9D9D9"/>
                          </a:solidFill>
                          <a:latin typeface="Arial"/>
                          <a:ea typeface="Arial"/>
                          <a:cs typeface="Arial"/>
                          <a:sym typeface="Arial"/>
                        </a:rPr>
                        <a:t>Click inside a section header to add its text. </a:t>
                      </a:r>
                      <a:br>
                        <a:rPr lang="en-US" sz="1800" b="0" u="none" strike="noStrike" cap="none">
                          <a:solidFill>
                            <a:schemeClr val="lt1"/>
                          </a:solidFill>
                          <a:latin typeface="Arial"/>
                          <a:ea typeface="Arial"/>
                          <a:cs typeface="Arial"/>
                          <a:sym typeface="Arial"/>
                        </a:rPr>
                      </a:br>
                      <a:r>
                        <a:rPr lang="en-US" sz="1800" b="0" u="none" strike="noStrike" cap="none">
                          <a:solidFill>
                            <a:srgbClr val="FFC000"/>
                          </a:solidFill>
                          <a:latin typeface="Arial"/>
                          <a:ea typeface="Arial"/>
                          <a:cs typeface="Arial"/>
                          <a:sym typeface="Arial"/>
                        </a:rPr>
                        <a:t>-</a:t>
                      </a:r>
                      <a:r>
                        <a:rPr lang="en-US" sz="1800" b="0" u="none" strike="noStrike" cap="none">
                          <a:solidFill>
                            <a:schemeClr val="lt1"/>
                          </a:solidFill>
                          <a:latin typeface="Arial"/>
                          <a:ea typeface="Arial"/>
                          <a:cs typeface="Arial"/>
                          <a:sym typeface="Arial"/>
                        </a:rPr>
                        <a:t> </a:t>
                      </a:r>
                      <a:r>
                        <a:rPr lang="en-US" sz="18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1800" b="0" u="none" strike="noStrike" cap="none">
                          <a:solidFill>
                            <a:schemeClr val="lt1"/>
                          </a:solidFill>
                          <a:latin typeface="Arial"/>
                          <a:ea typeface="Arial"/>
                          <a:cs typeface="Arial"/>
                          <a:sym typeface="Arial"/>
                        </a:rPr>
                      </a:br>
                      <a:r>
                        <a:rPr lang="en-US" sz="1800" b="0" u="none" strike="noStrike" cap="none">
                          <a:solidFill>
                            <a:srgbClr val="FFC000"/>
                          </a:solidFill>
                          <a:latin typeface="Arial"/>
                          <a:ea typeface="Arial"/>
                          <a:cs typeface="Arial"/>
                          <a:sym typeface="Arial"/>
                        </a:rPr>
                        <a:t>-</a:t>
                      </a:r>
                      <a:r>
                        <a:rPr lang="en-US" sz="1800" b="0" u="none" strike="noStrike" cap="none">
                          <a:solidFill>
                            <a:schemeClr val="lt1"/>
                          </a:solidFill>
                          <a:latin typeface="Arial"/>
                          <a:ea typeface="Arial"/>
                          <a:cs typeface="Arial"/>
                          <a:sym typeface="Arial"/>
                        </a:rPr>
                        <a:t> </a:t>
                      </a:r>
                      <a:r>
                        <a:rPr lang="en-US" sz="18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extLst>
                  <a:ext uri="{0D108BD9-81ED-4DB2-BD59-A6C34878D82A}">
                    <a16:rowId xmlns:a16="http://schemas.microsoft.com/office/drawing/2014/main" val="10005"/>
                  </a:ext>
                </a:extLst>
              </a:tr>
              <a:tr h="3208675">
                <a:tc gridSpan="2">
                  <a:txBody>
                    <a:bodyPr/>
                    <a:lstStyle/>
                    <a:p>
                      <a:pPr marL="0" marR="0" lvl="0" indent="0" algn="l" rtl="0">
                        <a:spcBef>
                          <a:spcPts val="0"/>
                        </a:spcBef>
                        <a:spcAft>
                          <a:spcPts val="0"/>
                        </a:spcAft>
                        <a:buNone/>
                      </a:pPr>
                      <a:r>
                        <a:rPr lang="en-US" sz="20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18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1800"/>
                        <a:buFont typeface="Arial"/>
                        <a:buChar char="-"/>
                      </a:pPr>
                      <a:r>
                        <a:rPr lang="en-US" sz="18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18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TH"/>
                    </a:p>
                  </a:txBody>
                  <a:tcPr/>
                </a:tc>
                <a:extLst>
                  <a:ext uri="{0D108BD9-81ED-4DB2-BD59-A6C34878D82A}">
                    <a16:rowId xmlns:a16="http://schemas.microsoft.com/office/drawing/2014/main" val="10006"/>
                  </a:ext>
                </a:extLst>
              </a:tr>
              <a:tr h="2124675">
                <a:tc gridSpan="2">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1800"/>
                        <a:buFont typeface="Arial"/>
                        <a:buNone/>
                      </a:pPr>
                      <a:r>
                        <a:rPr lang="en-US" sz="18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TH"/>
                    </a:p>
                  </a:txBody>
                  <a:tcPr/>
                </a:tc>
                <a:extLst>
                  <a:ext uri="{0D108BD9-81ED-4DB2-BD59-A6C34878D82A}">
                    <a16:rowId xmlns:a16="http://schemas.microsoft.com/office/drawing/2014/main" val="10007"/>
                  </a:ext>
                </a:extLst>
              </a:tr>
              <a:tr h="1868675">
                <a:tc gridSpan="2">
                  <a:txBody>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a:txBody>
                  <a:tcPr marL="182875" marR="91450" marT="137150" marB="45725"/>
                </a:tc>
                <a:tc hMerge="1">
                  <a:txBody>
                    <a:bodyPr/>
                    <a:lstStyle/>
                    <a:p>
                      <a:endParaRPr lang="en-TH"/>
                    </a:p>
                  </a:txBody>
                  <a:tcPr/>
                </a:tc>
                <a:extLst>
                  <a:ext uri="{0D108BD9-81ED-4DB2-BD59-A6C34878D82A}">
                    <a16:rowId xmlns:a16="http://schemas.microsoft.com/office/drawing/2014/main" val="10008"/>
                  </a:ext>
                </a:extLst>
              </a:tr>
              <a:tr h="2067800">
                <a:tc gridSpan="2">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TH"/>
                    </a:p>
                  </a:txBody>
                  <a:tcPr/>
                </a:tc>
                <a:extLst>
                  <a:ext uri="{0D108BD9-81ED-4DB2-BD59-A6C34878D82A}">
                    <a16:rowId xmlns:a16="http://schemas.microsoft.com/office/drawing/2014/main" val="10009"/>
                  </a:ext>
                </a:extLst>
              </a:tr>
              <a:tr h="2597275">
                <a:tc gridSpan="2">
                  <a:txBody>
                    <a:bodyPr/>
                    <a:lstStyle/>
                    <a:p>
                      <a:pPr marL="0" marR="0" lvl="0" indent="0" algn="l" rtl="0">
                        <a:lnSpc>
                          <a:spcPct val="100000"/>
                        </a:lnSpc>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a:txBody>
                  <a:tcPr marL="182875" marR="91450" marT="137150" marB="45725"/>
                </a:tc>
                <a:tc hMerge="1">
                  <a:txBody>
                    <a:bodyPr/>
                    <a:lstStyle/>
                    <a:p>
                      <a:endParaRPr lang="en-TH"/>
                    </a:p>
                  </a:txBody>
                  <a:tcPr/>
                </a:tc>
                <a:extLst>
                  <a:ext uri="{0D108BD9-81ED-4DB2-BD59-A6C34878D82A}">
                    <a16:rowId xmlns:a16="http://schemas.microsoft.com/office/drawing/2014/main" val="10010"/>
                  </a:ext>
                </a:extLst>
              </a:tr>
            </a:tbl>
          </a:graphicData>
        </a:graphic>
      </p:graphicFrame>
      <p:graphicFrame>
        <p:nvGraphicFramePr>
          <p:cNvPr id="12" name="Google Shape;12;p2"/>
          <p:cNvGraphicFramePr/>
          <p:nvPr/>
        </p:nvGraphicFramePr>
        <p:xfrm>
          <a:off x="21937684" y="-142032"/>
          <a:ext cx="8060650" cy="30608415"/>
        </p:xfrm>
        <a:graphic>
          <a:graphicData uri="http://schemas.openxmlformats.org/drawingml/2006/table">
            <a:tbl>
              <a:tblPr firstRow="1" bandRow="1">
                <a:noFill/>
                <a:tableStyleId>{D4E5E22D-11A9-47EB-837A-708205F9FC91}</a:tableStyleId>
              </a:tblPr>
              <a:tblGrid>
                <a:gridCol w="3162975">
                  <a:extLst>
                    <a:ext uri="{9D8B030D-6E8A-4147-A177-3AD203B41FA5}">
                      <a16:colId xmlns:a16="http://schemas.microsoft.com/office/drawing/2014/main" val="20000"/>
                    </a:ext>
                  </a:extLst>
                </a:gridCol>
                <a:gridCol w="950225">
                  <a:extLst>
                    <a:ext uri="{9D8B030D-6E8A-4147-A177-3AD203B41FA5}">
                      <a16:colId xmlns:a16="http://schemas.microsoft.com/office/drawing/2014/main" val="20001"/>
                    </a:ext>
                  </a:extLst>
                </a:gridCol>
                <a:gridCol w="3947450">
                  <a:extLst>
                    <a:ext uri="{9D8B030D-6E8A-4147-A177-3AD203B41FA5}">
                      <a16:colId xmlns:a16="http://schemas.microsoft.com/office/drawing/2014/main" val="20002"/>
                    </a:ext>
                  </a:extLst>
                </a:gridCol>
              </a:tblGrid>
              <a:tr h="1192125">
                <a:tc gridSpan="3">
                  <a:txBody>
                    <a:bodyPr/>
                    <a:lstStyle/>
                    <a:p>
                      <a:pPr marL="0" marR="0" lvl="0" indent="0" algn="ctr" rtl="0">
                        <a:lnSpc>
                          <a:spcPct val="100000"/>
                        </a:lnSpc>
                        <a:spcBef>
                          <a:spcPts val="0"/>
                        </a:spcBef>
                        <a:spcAft>
                          <a:spcPts val="0"/>
                        </a:spcAft>
                        <a:buClr>
                          <a:srgbClr val="1F3A4E"/>
                        </a:buClr>
                        <a:buSzPts val="3200"/>
                        <a:buFont typeface="Arial Black"/>
                        <a:buNone/>
                      </a:pPr>
                      <a:r>
                        <a:rPr lang="en-US" sz="3200" b="0">
                          <a:solidFill>
                            <a:srgbClr val="1F3A4E"/>
                          </a:solidFill>
                          <a:latin typeface="Arial Black"/>
                          <a:ea typeface="Arial Black"/>
                          <a:cs typeface="Arial Black"/>
                          <a:sym typeface="Arial Black"/>
                        </a:rPr>
                        <a:t>QUICK START GUIDE</a:t>
                      </a:r>
                      <a:br>
                        <a:rPr lang="en-US" sz="3200" b="0">
                          <a:solidFill>
                            <a:srgbClr val="1F3A4E"/>
                          </a:solidFill>
                          <a:latin typeface="Arial Black"/>
                          <a:ea typeface="Arial Black"/>
                          <a:cs typeface="Arial Black"/>
                          <a:sym typeface="Arial Black"/>
                        </a:rPr>
                      </a:br>
                      <a:r>
                        <a:rPr lang="en-US" sz="2400" b="1">
                          <a:solidFill>
                            <a:srgbClr val="FF0000"/>
                          </a:solidFill>
                          <a:latin typeface="Trebuchet MS"/>
                          <a:ea typeface="Trebuchet MS"/>
                          <a:cs typeface="Trebuchet MS"/>
                          <a:sym typeface="Trebuchet MS"/>
                        </a:rPr>
                        <a:t>(THIS SIDEBAR WILL NOT PRINT)</a:t>
                      </a:r>
                      <a:endParaRPr sz="32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TH"/>
                    </a:p>
                  </a:txBody>
                  <a:tcPr/>
                </a:tc>
                <a:tc hMerge="1">
                  <a:txBody>
                    <a:bodyPr/>
                    <a:lstStyle/>
                    <a:p>
                      <a:endParaRPr lang="en-TH"/>
                    </a:p>
                  </a:txBody>
                  <a:tcPr/>
                </a:tc>
                <a:extLst>
                  <a:ext uri="{0D108BD9-81ED-4DB2-BD59-A6C34878D82A}">
                    <a16:rowId xmlns:a16="http://schemas.microsoft.com/office/drawing/2014/main" val="10000"/>
                  </a:ext>
                </a:extLst>
              </a:tr>
              <a:tr h="5727950">
                <a:tc gridSpan="3">
                  <a:txBody>
                    <a:bodyPr/>
                    <a:lstStyle/>
                    <a:p>
                      <a:pPr marL="0" marR="0" lvl="0" indent="0" algn="l" rtl="0">
                        <a:spcBef>
                          <a:spcPts val="0"/>
                        </a:spcBef>
                        <a:spcAft>
                          <a:spcPts val="0"/>
                        </a:spcAft>
                        <a:buNone/>
                      </a:pPr>
                      <a:r>
                        <a:rPr lang="en-US" sz="20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18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1800" u="sng">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sz="1800">
                        <a:solidFill>
                          <a:srgbClr val="FFC000"/>
                        </a:solidFill>
                      </a:endParaRPr>
                    </a:p>
                    <a:p>
                      <a:pPr marL="0" marR="0" lvl="0" indent="0" algn="l" rtl="0">
                        <a:spcBef>
                          <a:spcPts val="0"/>
                        </a:spcBef>
                        <a:spcAft>
                          <a:spcPts val="0"/>
                        </a:spcAft>
                        <a:buNone/>
                      </a:pPr>
                      <a:endParaRPr sz="1800" b="0">
                        <a:solidFill>
                          <a:srgbClr val="D9D9D9"/>
                        </a:solidFill>
                        <a:latin typeface="Arial"/>
                        <a:ea typeface="Arial"/>
                        <a:cs typeface="Arial"/>
                        <a:sym typeface="Arial"/>
                      </a:endParaRPr>
                    </a:p>
                    <a:p>
                      <a:pPr marL="0" marR="0" lvl="0" indent="0" algn="l" rtl="0">
                        <a:spcBef>
                          <a:spcPts val="0"/>
                        </a:spcBef>
                        <a:spcAft>
                          <a:spcPts val="0"/>
                        </a:spcAft>
                        <a:buNone/>
                      </a:pPr>
                      <a:r>
                        <a:rPr lang="en-US" sz="18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1800" b="0">
                        <a:solidFill>
                          <a:srgbClr val="D9D9D9"/>
                        </a:solidFill>
                        <a:latin typeface="Arial"/>
                        <a:ea typeface="Arial"/>
                        <a:cs typeface="Arial"/>
                        <a:sym typeface="Arial"/>
                      </a:endParaRPr>
                    </a:p>
                    <a:p>
                      <a:pPr marL="0" marR="0" lvl="0" indent="0" algn="l" rtl="0">
                        <a:spcBef>
                          <a:spcPts val="0"/>
                        </a:spcBef>
                        <a:spcAft>
                          <a:spcPts val="0"/>
                        </a:spcAft>
                        <a:buNone/>
                      </a:pPr>
                      <a:r>
                        <a:rPr lang="en-US" sz="18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TH"/>
                    </a:p>
                  </a:txBody>
                  <a:tcPr/>
                </a:tc>
                <a:tc hMerge="1">
                  <a:txBody>
                    <a:bodyPr/>
                    <a:lstStyle/>
                    <a:p>
                      <a:endParaRPr lang="en-TH"/>
                    </a:p>
                  </a:txBody>
                  <a:tcPr/>
                </a:tc>
                <a:extLst>
                  <a:ext uri="{0D108BD9-81ED-4DB2-BD59-A6C34878D82A}">
                    <a16:rowId xmlns:a16="http://schemas.microsoft.com/office/drawing/2014/main" val="10001"/>
                  </a:ext>
                </a:extLst>
              </a:tr>
              <a:tr h="4259475">
                <a:tc gridSpan="3">
                  <a:txBody>
                    <a:bodyPr/>
                    <a:lstStyle/>
                    <a:p>
                      <a:pPr marL="0" marR="0" lvl="0" indent="0" algn="l" rtl="0">
                        <a:spcBef>
                          <a:spcPts val="0"/>
                        </a:spcBef>
                        <a:spcAft>
                          <a:spcPts val="0"/>
                        </a:spcAft>
                        <a:buNone/>
                      </a:pPr>
                      <a:r>
                        <a:rPr lang="en-US" sz="20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18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You can see a tutorial here: </a:t>
                      </a:r>
                      <a:r>
                        <a:rPr lang="en-US" sz="1800" u="sng">
                          <a:solidFill>
                            <a:srgbClr val="FFC000"/>
                          </a:solidFill>
                          <a:latin typeface="Arial"/>
                          <a:ea typeface="Arial"/>
                          <a:cs typeface="Arial"/>
                          <a:sym typeface="Arial"/>
                        </a:rPr>
                        <a:t>https://www.posterpresentations.com/how-to-change-the-column-configuration.html</a:t>
                      </a:r>
                      <a:endParaRPr sz="4400" u="sng">
                        <a:solidFill>
                          <a:srgbClr val="FFC000"/>
                        </a:solidFill>
                      </a:endParaRPr>
                    </a:p>
                  </a:txBody>
                  <a:tcPr marL="182875" marR="91450" marT="137150" marB="45725">
                    <a:solidFill>
                      <a:schemeClr val="dk1"/>
                    </a:solidFill>
                  </a:tcPr>
                </a:tc>
                <a:tc hMerge="1">
                  <a:txBody>
                    <a:bodyPr/>
                    <a:lstStyle/>
                    <a:p>
                      <a:endParaRPr lang="en-TH"/>
                    </a:p>
                  </a:txBody>
                  <a:tcPr/>
                </a:tc>
                <a:tc hMerge="1">
                  <a:txBody>
                    <a:bodyPr/>
                    <a:lstStyle/>
                    <a:p>
                      <a:endParaRPr lang="en-TH"/>
                    </a:p>
                  </a:txBody>
                  <a:tcPr/>
                </a:tc>
                <a:extLst>
                  <a:ext uri="{0D108BD9-81ED-4DB2-BD59-A6C34878D82A}">
                    <a16:rowId xmlns:a16="http://schemas.microsoft.com/office/drawing/2014/main" val="10002"/>
                  </a:ext>
                </a:extLst>
              </a:tr>
              <a:tr h="1678550">
                <a:tc>
                  <a:txBody>
                    <a:bodyPr/>
                    <a:lstStyle/>
                    <a:p>
                      <a:pPr marL="0" marR="0" lvl="0" indent="0" algn="l" rtl="0">
                        <a:lnSpc>
                          <a:spcPct val="100000"/>
                        </a:lnSpc>
                        <a:spcBef>
                          <a:spcPts val="0"/>
                        </a:spcBef>
                        <a:spcAft>
                          <a:spcPts val="0"/>
                        </a:spcAft>
                        <a:buClr>
                          <a:schemeClr val="dk1"/>
                        </a:buClr>
                        <a:buSzPts val="2000"/>
                        <a:buFont typeface="Calibri"/>
                        <a:buNone/>
                      </a:pPr>
                      <a:endParaRPr sz="2000">
                        <a:solidFill>
                          <a:srgbClr val="D9D9D9"/>
                        </a:solidFill>
                        <a:latin typeface="Arial"/>
                        <a:ea typeface="Arial"/>
                        <a:cs typeface="Arial"/>
                        <a:sym typeface="Arial"/>
                      </a:endParaRPr>
                    </a:p>
                  </a:txBody>
                  <a:tcPr marL="182875" marR="91450" marT="137150" marB="45725"/>
                </a:tc>
                <a:tc rowSpan="2" gridSpan="2">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The Quick Start Guides </a:t>
                      </a:r>
                      <a:r>
                        <a:rPr lang="en-US" sz="1800" u="sng">
                          <a:solidFill>
                            <a:srgbClr val="D9D9D9"/>
                          </a:solidFill>
                          <a:latin typeface="Arial"/>
                          <a:ea typeface="Arial"/>
                          <a:cs typeface="Arial"/>
                          <a:sym typeface="Arial"/>
                        </a:rPr>
                        <a:t>are outside the template’s printable area</a:t>
                      </a:r>
                      <a:r>
                        <a:rPr lang="en-US" sz="18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1800"/>
                        <a:buFont typeface="Calibri"/>
                        <a:buNone/>
                      </a:pPr>
                      <a:endParaRPr sz="18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1800"/>
                        <a:buFont typeface="Calibri"/>
                        <a:buNone/>
                      </a:pPr>
                      <a:endParaRPr sz="18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To hide the guides click on the </a:t>
                      </a:r>
                      <a:r>
                        <a:rPr lang="en-US" sz="1800" b="1">
                          <a:solidFill>
                            <a:srgbClr val="D9D9D9"/>
                          </a:solidFill>
                          <a:latin typeface="Arial"/>
                          <a:ea typeface="Arial"/>
                          <a:cs typeface="Arial"/>
                          <a:sym typeface="Arial"/>
                        </a:rPr>
                        <a:t>Home</a:t>
                      </a:r>
                      <a:r>
                        <a:rPr lang="en-US" sz="1800">
                          <a:solidFill>
                            <a:srgbClr val="D9D9D9"/>
                          </a:solidFill>
                          <a:latin typeface="Arial"/>
                          <a:ea typeface="Arial"/>
                          <a:cs typeface="Arial"/>
                          <a:sym typeface="Arial"/>
                        </a:rPr>
                        <a:t> tab (top of the screen) and then click on the </a:t>
                      </a:r>
                      <a:r>
                        <a:rPr lang="en-US" sz="1800" b="1">
                          <a:solidFill>
                            <a:srgbClr val="D9D9D9"/>
                          </a:solidFill>
                          <a:latin typeface="Arial"/>
                          <a:ea typeface="Arial"/>
                          <a:cs typeface="Arial"/>
                          <a:sym typeface="Arial"/>
                        </a:rPr>
                        <a:t>Layout</a:t>
                      </a:r>
                      <a:r>
                        <a:rPr lang="en-US" sz="1800">
                          <a:solidFill>
                            <a:srgbClr val="D9D9D9"/>
                          </a:solidFill>
                          <a:latin typeface="Arial"/>
                          <a:ea typeface="Arial"/>
                          <a:cs typeface="Arial"/>
                          <a:sym typeface="Arial"/>
                        </a:rPr>
                        <a:t> button below to see the available layouts. Choose the </a:t>
                      </a:r>
                      <a:r>
                        <a:rPr lang="en-US" sz="1800" b="1">
                          <a:solidFill>
                            <a:srgbClr val="D9D9D9"/>
                          </a:solidFill>
                          <a:latin typeface="Arial"/>
                          <a:ea typeface="Arial"/>
                          <a:cs typeface="Arial"/>
                          <a:sym typeface="Arial"/>
                        </a:rPr>
                        <a:t>Without Guides </a:t>
                      </a:r>
                      <a:r>
                        <a:rPr lang="en-US" sz="1800" b="0">
                          <a:solidFill>
                            <a:srgbClr val="D9D9D9"/>
                          </a:solidFill>
                          <a:latin typeface="Arial"/>
                          <a:ea typeface="Arial"/>
                          <a:cs typeface="Arial"/>
                          <a:sym typeface="Arial"/>
                        </a:rPr>
                        <a:t>layout</a:t>
                      </a:r>
                      <a:r>
                        <a:rPr lang="en-US" sz="1800">
                          <a:solidFill>
                            <a:srgbClr val="D9D9D9"/>
                          </a:solidFill>
                          <a:latin typeface="Arial"/>
                          <a:ea typeface="Arial"/>
                          <a:cs typeface="Arial"/>
                          <a:sym typeface="Arial"/>
                        </a:rPr>
                        <a:t>.</a:t>
                      </a:r>
                      <a:endParaRPr sz="1800">
                        <a:solidFill>
                          <a:srgbClr val="D9D9D9"/>
                        </a:solidFill>
                        <a:latin typeface="Arial"/>
                        <a:ea typeface="Arial"/>
                        <a:cs typeface="Arial"/>
                        <a:sym typeface="Arial"/>
                      </a:endParaRPr>
                    </a:p>
                  </a:txBody>
                  <a:tcPr marL="182875" marR="91450" marT="137150" marB="45725">
                    <a:solidFill>
                      <a:srgbClr val="010101"/>
                    </a:solidFill>
                  </a:tcPr>
                </a:tc>
                <a:tc rowSpan="2" hMerge="1">
                  <a:txBody>
                    <a:bodyPr/>
                    <a:lstStyle/>
                    <a:p>
                      <a:endParaRPr lang="en-TH"/>
                    </a:p>
                  </a:txBody>
                  <a:tcPr/>
                </a:tc>
                <a:extLst>
                  <a:ext uri="{0D108BD9-81ED-4DB2-BD59-A6C34878D82A}">
                    <a16:rowId xmlns:a16="http://schemas.microsoft.com/office/drawing/2014/main" val="10003"/>
                  </a:ext>
                </a:extLst>
              </a:tr>
              <a:tr h="5446450">
                <a:tc>
                  <a:txBody>
                    <a:bodyPr/>
                    <a:lstStyle/>
                    <a:p>
                      <a:pPr marL="0" marR="0" lvl="0" indent="0" algn="l" rtl="0">
                        <a:lnSpc>
                          <a:spcPct val="100000"/>
                        </a:lnSpc>
                        <a:spcBef>
                          <a:spcPts val="0"/>
                        </a:spcBef>
                        <a:spcAft>
                          <a:spcPts val="0"/>
                        </a:spcAft>
                        <a:buClr>
                          <a:schemeClr val="dk1"/>
                        </a:buClr>
                        <a:buSzPts val="2000"/>
                        <a:buFont typeface="Calibri"/>
                        <a:buNone/>
                      </a:pPr>
                      <a:endParaRPr sz="2000">
                        <a:solidFill>
                          <a:srgbClr val="D9D9D9"/>
                        </a:solidFill>
                        <a:latin typeface="Arial"/>
                        <a:ea typeface="Arial"/>
                        <a:cs typeface="Arial"/>
                        <a:sym typeface="Arial"/>
                      </a:endParaRPr>
                    </a:p>
                  </a:txBody>
                  <a:tcPr marL="182875" marR="91450" marT="137150" marB="45725">
                    <a:solidFill>
                      <a:srgbClr val="010101"/>
                    </a:solidFill>
                  </a:tcPr>
                </a:tc>
                <a:tc gridSpan="2" vMerge="1">
                  <a:txBody>
                    <a:bodyPr/>
                    <a:lstStyle/>
                    <a:p>
                      <a:endParaRPr lang="en-TH"/>
                    </a:p>
                  </a:txBody>
                  <a:tcPr/>
                </a:tc>
                <a:tc hMerge="1" vMerge="1">
                  <a:txBody>
                    <a:bodyPr/>
                    <a:lstStyle/>
                    <a:p>
                      <a:endParaRPr lang="en-TH"/>
                    </a:p>
                  </a:txBody>
                  <a:tcPr/>
                </a:tc>
                <a:extLst>
                  <a:ext uri="{0D108BD9-81ED-4DB2-BD59-A6C34878D82A}">
                    <a16:rowId xmlns:a16="http://schemas.microsoft.com/office/drawing/2014/main" val="10004"/>
                  </a:ext>
                </a:extLst>
              </a:tr>
              <a:tr h="4626675">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preview your poster prior to printing</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a:solidFill>
                            <a:srgbClr val="D9D9D9"/>
                          </a:solidFill>
                          <a:latin typeface="Arial"/>
                          <a:ea typeface="Arial"/>
                          <a:cs typeface="Arial"/>
                          <a:sym typeface="Arial"/>
                        </a:rPr>
                        <a:t>You can preview your poster at any time by pressing the </a:t>
                      </a:r>
                      <a:r>
                        <a:rPr lang="en-US" sz="2000">
                          <a:solidFill>
                            <a:srgbClr val="FFC000"/>
                          </a:solidFill>
                          <a:latin typeface="Arial"/>
                          <a:ea typeface="Arial"/>
                          <a:cs typeface="Arial"/>
                          <a:sym typeface="Arial"/>
                        </a:rPr>
                        <a:t>F5 key</a:t>
                      </a:r>
                      <a:r>
                        <a:rPr lang="en-US" sz="2000">
                          <a:solidFill>
                            <a:srgbClr val="D9D9D9"/>
                          </a:solidFill>
                          <a:latin typeface="Arial"/>
                          <a:ea typeface="Arial"/>
                          <a:cs typeface="Arial"/>
                          <a:sym typeface="Arial"/>
                        </a:rPr>
                        <a:t> on your keyboard. You will see on the screen what's on your poster and how it should look when printed. Press the </a:t>
                      </a:r>
                      <a:r>
                        <a:rPr lang="en-US" sz="2000">
                          <a:solidFill>
                            <a:srgbClr val="FFC000"/>
                          </a:solidFill>
                          <a:latin typeface="Arial"/>
                          <a:ea typeface="Arial"/>
                          <a:cs typeface="Arial"/>
                          <a:sym typeface="Arial"/>
                        </a:rPr>
                        <a:t>ESC key </a:t>
                      </a:r>
                      <a:r>
                        <a:rPr lang="en-US" sz="2000">
                          <a:solidFill>
                            <a:srgbClr val="D9D9D9"/>
                          </a:solidFill>
                          <a:latin typeface="Arial"/>
                          <a:ea typeface="Arial"/>
                          <a:cs typeface="Arial"/>
                          <a:sym typeface="Arial"/>
                        </a:rPr>
                        <a:t>to exit Preview.</a:t>
                      </a:r>
                      <a:endParaRPr/>
                    </a:p>
                  </a:txBody>
                  <a:tcPr marL="182875" marR="91450" marT="137150" marB="45725">
                    <a:solidFill>
                      <a:srgbClr val="010101"/>
                    </a:solidFill>
                  </a:tcPr>
                </a:tc>
                <a:tc gridSpan="2">
                  <a:txBody>
                    <a:bodyPr/>
                    <a:lstStyle/>
                    <a:p>
                      <a:pPr marL="0" marR="0" lvl="0" indent="0" algn="l" rtl="0">
                        <a:spcBef>
                          <a:spcPts val="0"/>
                        </a:spcBef>
                        <a:spcAft>
                          <a:spcPts val="0"/>
                        </a:spcAft>
                        <a:buNone/>
                      </a:pPr>
                      <a:r>
                        <a:rPr lang="en-US" sz="8800" b="1">
                          <a:solidFill>
                            <a:srgbClr val="D9D9D9"/>
                          </a:solidFill>
                          <a:latin typeface="Arial"/>
                          <a:ea typeface="Arial"/>
                          <a:cs typeface="Arial"/>
                          <a:sym typeface="Arial"/>
                        </a:rPr>
                        <a:t>F5</a:t>
                      </a:r>
                      <a:r>
                        <a:rPr lang="en-US" sz="1800">
                          <a:solidFill>
                            <a:srgbClr val="D9D9D9"/>
                          </a:solidFill>
                          <a:latin typeface="Arial"/>
                          <a:ea typeface="Arial"/>
                          <a:cs typeface="Arial"/>
                          <a:sym typeface="Arial"/>
                        </a:rPr>
                        <a:t> </a:t>
                      </a:r>
                      <a:endParaRPr sz="1800">
                        <a:solidFill>
                          <a:srgbClr val="D9D9D9"/>
                        </a:solidFill>
                        <a:latin typeface="Arial"/>
                        <a:ea typeface="Arial"/>
                        <a:cs typeface="Arial"/>
                        <a:sym typeface="Arial"/>
                      </a:endParaRPr>
                    </a:p>
                  </a:txBody>
                  <a:tcPr marL="182875" marR="91450" marT="137150" marB="45725">
                    <a:solidFill>
                      <a:srgbClr val="0C0C0C"/>
                    </a:solidFill>
                  </a:tcPr>
                </a:tc>
                <a:tc hMerge="1">
                  <a:txBody>
                    <a:bodyPr/>
                    <a:lstStyle/>
                    <a:p>
                      <a:endParaRPr lang="en-TH"/>
                    </a:p>
                  </a:txBody>
                  <a:tcPr/>
                </a:tc>
                <a:extLst>
                  <a:ext uri="{0D108BD9-81ED-4DB2-BD59-A6C34878D82A}">
                    <a16:rowId xmlns:a16="http://schemas.microsoft.com/office/drawing/2014/main" val="10005"/>
                  </a:ext>
                </a:extLst>
              </a:tr>
              <a:tr h="5308825">
                <a:tc gridSpan="3">
                  <a:txBody>
                    <a:bodyPr/>
                    <a:lstStyle/>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When you are ready to have your poster printed go online to </a:t>
                      </a:r>
                      <a:r>
                        <a:rPr lang="en-US" sz="1800">
                          <a:solidFill>
                            <a:srgbClr val="FFC000"/>
                          </a:solidFill>
                          <a:latin typeface="Arial"/>
                          <a:ea typeface="Arial"/>
                          <a:cs typeface="Arial"/>
                          <a:sym typeface="Arial"/>
                        </a:rPr>
                        <a:t>PosterPresentations.com</a:t>
                      </a:r>
                      <a:r>
                        <a:rPr lang="en-US" sz="1800">
                          <a:solidFill>
                            <a:srgbClr val="D9D9D9"/>
                          </a:solidFill>
                          <a:latin typeface="Arial"/>
                          <a:ea typeface="Arial"/>
                          <a:cs typeface="Arial"/>
                          <a:sym typeface="Arial"/>
                        </a:rPr>
                        <a:t> and click on the "</a:t>
                      </a:r>
                      <a:r>
                        <a:rPr lang="en-US" sz="1800">
                          <a:solidFill>
                            <a:srgbClr val="FFC000"/>
                          </a:solidFill>
                          <a:latin typeface="Arial"/>
                          <a:ea typeface="Arial"/>
                          <a:cs typeface="Arial"/>
                          <a:sym typeface="Arial"/>
                        </a:rPr>
                        <a:t>Order Your Poster</a:t>
                      </a:r>
                      <a:r>
                        <a:rPr lang="en-US" sz="18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1800"/>
                        <a:buFont typeface="Arial"/>
                        <a:buNone/>
                      </a:pPr>
                      <a:r>
                        <a:rPr lang="en-US" sz="18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1800"/>
                        <a:buFont typeface="Arial"/>
                        <a:buNone/>
                      </a:pPr>
                      <a:br>
                        <a:rPr lang="en-US" sz="1800">
                          <a:solidFill>
                            <a:srgbClr val="D9D9D9"/>
                          </a:solidFill>
                          <a:latin typeface="Arial"/>
                          <a:ea typeface="Arial"/>
                          <a:cs typeface="Arial"/>
                          <a:sym typeface="Arial"/>
                        </a:rPr>
                      </a:br>
                      <a:r>
                        <a:rPr lang="en-US" sz="1800">
                          <a:solidFill>
                            <a:srgbClr val="D9D9D9"/>
                          </a:solidFill>
                          <a:latin typeface="Arial"/>
                          <a:ea typeface="Arial"/>
                          <a:cs typeface="Arial"/>
                          <a:sym typeface="Arial"/>
                        </a:rPr>
                        <a:t>Go to </a:t>
                      </a:r>
                      <a:r>
                        <a:rPr lang="en-US" sz="1800">
                          <a:solidFill>
                            <a:srgbClr val="FFC000"/>
                          </a:solidFill>
                          <a:latin typeface="Arial"/>
                          <a:ea typeface="Arial"/>
                          <a:cs typeface="Arial"/>
                          <a:sym typeface="Arial"/>
                        </a:rPr>
                        <a:t>PosterPresentations.com</a:t>
                      </a:r>
                      <a:r>
                        <a:rPr lang="en-US" sz="18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TH"/>
                    </a:p>
                  </a:txBody>
                  <a:tcPr/>
                </a:tc>
                <a:tc hMerge="1">
                  <a:txBody>
                    <a:bodyPr/>
                    <a:lstStyle/>
                    <a:p>
                      <a:endParaRPr lang="en-TH"/>
                    </a:p>
                  </a:txBody>
                  <a:tcPr/>
                </a:tc>
                <a:extLst>
                  <a:ext uri="{0D108BD9-81ED-4DB2-BD59-A6C34878D82A}">
                    <a16:rowId xmlns:a16="http://schemas.microsoft.com/office/drawing/2014/main" val="10006"/>
                  </a:ext>
                </a:extLst>
              </a:tr>
              <a:tr h="1047125">
                <a:tc gridSpan="3">
                  <a:txBody>
                    <a:bodyPr/>
                    <a:lstStyle/>
                    <a:p>
                      <a:pPr marL="0" marR="0" lvl="0" indent="0" algn="l" rtl="0">
                        <a:spcBef>
                          <a:spcPts val="0"/>
                        </a:spcBef>
                        <a:spcAft>
                          <a:spcPts val="0"/>
                        </a:spcAft>
                        <a:buNone/>
                      </a:pPr>
                      <a:endParaRPr sz="1800">
                        <a:solidFill>
                          <a:srgbClr val="1F3A4E"/>
                        </a:solidFill>
                      </a:endParaRPr>
                    </a:p>
                  </a:txBody>
                  <a:tcPr marL="182875" marR="91450" marT="137150" marB="45725"/>
                </a:tc>
                <a:tc hMerge="1">
                  <a:txBody>
                    <a:bodyPr/>
                    <a:lstStyle/>
                    <a:p>
                      <a:endParaRPr lang="en-TH"/>
                    </a:p>
                  </a:txBody>
                  <a:tcPr/>
                </a:tc>
                <a:tc hMerge="1">
                  <a:txBody>
                    <a:bodyPr/>
                    <a:lstStyle/>
                    <a:p>
                      <a:endParaRPr lang="en-TH"/>
                    </a:p>
                  </a:txBody>
                  <a:tcPr/>
                </a:tc>
                <a:extLst>
                  <a:ext uri="{0D108BD9-81ED-4DB2-BD59-A6C34878D82A}">
                    <a16:rowId xmlns:a16="http://schemas.microsoft.com/office/drawing/2014/main" val="10007"/>
                  </a:ext>
                </a:extLst>
              </a:tr>
              <a:tr h="1130050">
                <a:tc gridSpan="2">
                  <a:txBody>
                    <a:bodyPr/>
                    <a:lstStyle/>
                    <a:p>
                      <a:pPr marL="0" marR="0" lvl="0" indent="0" algn="l" rtl="0">
                        <a:lnSpc>
                          <a:spcPct val="144444"/>
                        </a:lnSpc>
                        <a:spcBef>
                          <a:spcPts val="0"/>
                        </a:spcBef>
                        <a:spcAft>
                          <a:spcPts val="0"/>
                        </a:spcAft>
                        <a:buNone/>
                      </a:pPr>
                      <a:r>
                        <a:rPr lang="en-US" sz="1800">
                          <a:solidFill>
                            <a:srgbClr val="D8D8D8"/>
                          </a:solidFill>
                          <a:latin typeface="Arial"/>
                          <a:ea typeface="Arial"/>
                          <a:cs typeface="Arial"/>
                          <a:sym typeface="Arial"/>
                        </a:rPr>
                        <a:t>© 2019 PosterPresentations.com</a:t>
                      </a:r>
                      <a:br>
                        <a:rPr lang="en-US" sz="1800">
                          <a:solidFill>
                            <a:srgbClr val="D8D8D8"/>
                          </a:solidFill>
                          <a:latin typeface="Arial"/>
                          <a:ea typeface="Arial"/>
                          <a:cs typeface="Arial"/>
                          <a:sym typeface="Arial"/>
                        </a:rPr>
                      </a:br>
                      <a:r>
                        <a:rPr lang="en-US" sz="1800">
                          <a:solidFill>
                            <a:srgbClr val="D8D8D8"/>
                          </a:solidFill>
                          <a:latin typeface="Arial"/>
                          <a:ea typeface="Arial"/>
                          <a:cs typeface="Arial"/>
                          <a:sym typeface="Arial"/>
                        </a:rPr>
                        <a:t>2117 Fourth Street , STE C        </a:t>
                      </a:r>
                      <a:endParaRPr/>
                    </a:p>
                    <a:p>
                      <a:pPr marL="0" marR="0" lvl="0" indent="0" algn="l" rtl="0">
                        <a:lnSpc>
                          <a:spcPct val="144444"/>
                        </a:lnSpc>
                        <a:spcBef>
                          <a:spcPts val="0"/>
                        </a:spcBef>
                        <a:spcAft>
                          <a:spcPts val="0"/>
                        </a:spcAft>
                        <a:buNone/>
                      </a:pPr>
                      <a:r>
                        <a:rPr lang="en-US" sz="1800">
                          <a:solidFill>
                            <a:srgbClr val="D8D8D8"/>
                          </a:solidFill>
                          <a:latin typeface="Arial"/>
                          <a:ea typeface="Arial"/>
                          <a:cs typeface="Arial"/>
                          <a:sym typeface="Arial"/>
                        </a:rPr>
                        <a:t>Berkeley CA 94710 USA</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TH"/>
                    </a:p>
                  </a:txBody>
                  <a:tcPr/>
                </a:tc>
                <a:tc>
                  <a:txBody>
                    <a:bodyPr/>
                    <a:lstStyle/>
                    <a:p>
                      <a:pPr marL="0" marR="0" lvl="0" indent="0" algn="l" rtl="0">
                        <a:lnSpc>
                          <a:spcPct val="100000"/>
                        </a:lnSpc>
                        <a:spcBef>
                          <a:spcPts val="0"/>
                        </a:spcBef>
                        <a:spcAft>
                          <a:spcPts val="0"/>
                        </a:spcAft>
                        <a:buClr>
                          <a:srgbClr val="D0D0D0"/>
                        </a:buClr>
                        <a:buSzPts val="1800"/>
                        <a:buFont typeface="Arial"/>
                        <a:buNone/>
                      </a:pPr>
                      <a:r>
                        <a:rPr lang="en-US" sz="18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400"/>
                        <a:buFont typeface="Arial"/>
                        <a:buNone/>
                      </a:pPr>
                      <a:r>
                        <a:rPr lang="en-US" sz="1400" b="1">
                          <a:solidFill>
                            <a:srgbClr val="FFC000"/>
                          </a:solidFill>
                          <a:latin typeface="Arial"/>
                          <a:ea typeface="Arial"/>
                          <a:cs typeface="Arial"/>
                          <a:sym typeface="Arial"/>
                        </a:rPr>
                        <a:t>https://www.posterpresentations.com/helpdesk.html</a:t>
                      </a:r>
                      <a:endParaRPr sz="9600"/>
                    </a:p>
                  </a:txBody>
                  <a:tcPr marL="182875" marR="91450" marT="137150" marB="45725">
                    <a:solidFill>
                      <a:srgbClr val="010101"/>
                    </a:solidFill>
                  </a:tcPr>
                </a:tc>
                <a:extLst>
                  <a:ext uri="{0D108BD9-81ED-4DB2-BD59-A6C34878D82A}">
                    <a16:rowId xmlns:a16="http://schemas.microsoft.com/office/drawing/2014/main" val="10008"/>
                  </a:ext>
                </a:extLst>
              </a:tr>
            </a:tbl>
          </a:graphicData>
        </a:graphic>
      </p:graphicFrame>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4"/>
          <p:cNvSpPr txBox="1"/>
          <p:nvPr/>
        </p:nvSpPr>
        <p:spPr>
          <a:xfrm>
            <a:off x="1086753" y="29699043"/>
            <a:ext cx="1578661" cy="230633"/>
          </a:xfrm>
          <a:prstGeom prst="rect">
            <a:avLst/>
          </a:prstGeom>
          <a:noFill/>
          <a:ln>
            <a:noFill/>
          </a:ln>
        </p:spPr>
        <p:txBody>
          <a:bodyPr spcFirstLastPara="1" wrap="square" lIns="63175" tIns="31575" rIns="63175" bIns="31575" anchor="t" anchorCtr="0">
            <a:spAutoFit/>
          </a:bodyPr>
          <a:lstStyle/>
          <a:p>
            <a:pPr marL="0" marR="0" lvl="0" indent="0" algn="l" rtl="0">
              <a:lnSpc>
                <a:spcPct val="65000"/>
              </a:lnSpc>
              <a:spcBef>
                <a:spcPts val="0"/>
              </a:spcBef>
              <a:spcAft>
                <a:spcPts val="0"/>
              </a:spcAft>
              <a:buNone/>
            </a:pPr>
            <a:r>
              <a:rPr lang="en-US" sz="400" b="1" i="0" u="none" strike="noStrike" cap="none">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350"/>
              </a:spcBef>
              <a:spcAft>
                <a:spcPts val="0"/>
              </a:spcAft>
              <a:buNone/>
            </a:pPr>
            <a:r>
              <a:rPr lang="en-US" sz="700" b="1" i="0" u="none" strike="noStrike" cap="none">
                <a:solidFill>
                  <a:srgbClr val="BFBFBF"/>
                </a:solidFill>
                <a:latin typeface="Arial"/>
                <a:ea typeface="Arial"/>
                <a:cs typeface="Arial"/>
                <a:sym typeface="Arial"/>
              </a:rPr>
              <a:t>www.PosterPresentations.com</a:t>
            </a:r>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a:spLocks noGrp="1"/>
          </p:cNvSpPr>
          <p:nvPr>
            <p:ph type="body" idx="1"/>
          </p:nvPr>
        </p:nvSpPr>
        <p:spPr>
          <a:xfrm>
            <a:off x="428775" y="5818982"/>
            <a:ext cx="10101900" cy="2800000"/>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lvl="0" indent="0" algn="l" rtl="0">
              <a:spcBef>
                <a:spcPts val="0"/>
              </a:spcBef>
              <a:spcAft>
                <a:spcPts val="0"/>
              </a:spcAft>
              <a:buClr>
                <a:schemeClr val="dk1"/>
              </a:buClr>
              <a:buSzPts val="2000"/>
              <a:buNone/>
            </a:pPr>
            <a:r>
              <a:rPr lang="en-US" sz="1800">
                <a:solidFill>
                  <a:schemeClr val="dk1"/>
                </a:solidFill>
              </a:rPr>
              <a:t>This work builds and evaluates a low-cost educational IIoT platform combining an MCU (ESP32-S3), an SBC (Raspberry Pi 4), and a PLC (Siemens LOGO! 24CE). On the MCU, a Modbus RTU-to-TCP/MQTT gateway bridges legacy serial field devices to modern IT systems; eight open-source ESP32 gateway libraries are benchmarked on real hardware for latency, throughput, and flash/RAM use to select one. Open-source software — Mosquitto, the TIG stack, and Node-RED — carries the IT and edge layers, while a passive IoT-Sniffer decodes Modbus TCP and MQTT on the wire for direct protocol visibility. Results show a single sub-2,000-THB microcontroller bridges legacy OT to an IT dashboard within its firmware budget, and the three controller classes prove complementary, not competing, teaching roles.</a:t>
            </a:r>
            <a:endParaRPr>
              <a:solidFill>
                <a:schemeClr val="dk1"/>
              </a:solidFill>
            </a:endParaRPr>
          </a:p>
        </p:txBody>
      </p:sp>
      <p:sp>
        <p:nvSpPr>
          <p:cNvPr id="49" name="Google Shape;49;p1"/>
          <p:cNvSpPr txBox="1">
            <a:spLocks noGrp="1"/>
          </p:cNvSpPr>
          <p:nvPr>
            <p:ph type="body" idx="2"/>
          </p:nvPr>
        </p:nvSpPr>
        <p:spPr>
          <a:xfrm>
            <a:off x="449463" y="5210408"/>
            <a:ext cx="10093882" cy="566030"/>
          </a:xfrm>
          <a:prstGeom prst="rect">
            <a:avLst/>
          </a:prstGeom>
          <a:noFill/>
          <a:ln>
            <a:noFill/>
          </a:ln>
        </p:spPr>
        <p:txBody>
          <a:bodyPr spcFirstLastPara="1" wrap="square" lIns="63300" tIns="63300" rIns="63300" bIns="63300" anchor="ctr" anchorCtr="0">
            <a:spAutoFit/>
          </a:bodyPr>
          <a:lstStyle/>
          <a:p>
            <a:pPr marL="0" lvl="0" indent="0" algn="l" rtl="0">
              <a:spcBef>
                <a:spcPts val="0"/>
              </a:spcBef>
              <a:spcAft>
                <a:spcPts val="0"/>
              </a:spcAft>
              <a:buClr>
                <a:schemeClr val="dk1"/>
              </a:buClr>
              <a:buSzPts val="2800"/>
              <a:buNone/>
            </a:pPr>
            <a:r>
              <a:rPr lang="en-US" u="none">
                <a:solidFill>
                  <a:schemeClr val="dk1"/>
                </a:solidFill>
                <a:latin typeface="Times New Roman"/>
                <a:ea typeface="Times New Roman"/>
                <a:cs typeface="Times New Roman"/>
                <a:sym typeface="Times New Roman"/>
              </a:rPr>
              <a:t>Abstract</a:t>
            </a:r>
            <a:endParaRPr/>
          </a:p>
        </p:txBody>
      </p:sp>
      <p:sp>
        <p:nvSpPr>
          <p:cNvPr id="50" name="Google Shape;50;p1"/>
          <p:cNvSpPr txBox="1">
            <a:spLocks noGrp="1"/>
          </p:cNvSpPr>
          <p:nvPr>
            <p:ph type="body" idx="4"/>
          </p:nvPr>
        </p:nvSpPr>
        <p:spPr>
          <a:xfrm>
            <a:off x="428775" y="13937783"/>
            <a:ext cx="10093752" cy="566030"/>
          </a:xfrm>
          <a:prstGeom prst="rect">
            <a:avLst/>
          </a:prstGeom>
          <a:noFill/>
          <a:ln>
            <a:noFill/>
          </a:ln>
        </p:spPr>
        <p:txBody>
          <a:bodyPr spcFirstLastPara="1" wrap="square" lIns="63300" tIns="63300" rIns="63300" bIns="63300" anchor="ctr" anchorCtr="0">
            <a:spAutoFit/>
          </a:bodyPr>
          <a:lstStyle/>
          <a:p>
            <a:pPr marL="0" lvl="0" indent="0" algn="l" rtl="0">
              <a:spcBef>
                <a:spcPts val="0"/>
              </a:spcBef>
              <a:spcAft>
                <a:spcPts val="0"/>
              </a:spcAft>
              <a:buClr>
                <a:schemeClr val="dk1"/>
              </a:buClr>
              <a:buSzPts val="2800"/>
              <a:buNone/>
            </a:pPr>
            <a:r>
              <a:rPr lang="en-US" u="none">
                <a:solidFill>
                  <a:schemeClr val="dk1"/>
                </a:solidFill>
                <a:latin typeface="Times New Roman"/>
                <a:ea typeface="Times New Roman"/>
                <a:cs typeface="Times New Roman"/>
                <a:sym typeface="Times New Roman"/>
              </a:rPr>
              <a:t>Objectives</a:t>
            </a:r>
            <a:endParaRPr/>
          </a:p>
        </p:txBody>
      </p:sp>
      <p:sp>
        <p:nvSpPr>
          <p:cNvPr id="51" name="Google Shape;51;p1"/>
          <p:cNvSpPr txBox="1">
            <a:spLocks noGrp="1"/>
          </p:cNvSpPr>
          <p:nvPr>
            <p:ph type="body" idx="5"/>
          </p:nvPr>
        </p:nvSpPr>
        <p:spPr>
          <a:xfrm>
            <a:off x="428775" y="14479478"/>
            <a:ext cx="10093752" cy="3600000"/>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457200" lvl="0" indent="-285750" algn="l" rtl="0">
              <a:spcBef>
                <a:spcPts val="0"/>
              </a:spcBef>
              <a:spcAft>
                <a:spcPts val="0"/>
              </a:spcAft>
              <a:buClr>
                <a:schemeClr val="dk1"/>
              </a:buClr>
              <a:buSzPts val="2000"/>
              <a:buFont typeface="Calibri"/>
              <a:buAutoNum type="arabicPeriod"/>
            </a:pPr>
            <a:r>
              <a:rPr lang="en-US">
                <a:solidFill>
                  <a:schemeClr val="dk1"/>
                </a:solidFill>
              </a:rPr>
              <a:t>Design and build a low-cost educational IIoT platform integrating three controller classes: SBC (Raspberry Pi 4), MCU (ESP32-S3), and PLC (Siemens LOGO! 24CE).</a:t>
            </a:r>
            <a:endParaRPr>
              <a:solidFill>
                <a:schemeClr val="dk1"/>
              </a:solidFill>
            </a:endParaRPr>
          </a:p>
          <a:p>
            <a:pPr marL="457200" lvl="0" indent="-285750" algn="l" rtl="0">
              <a:spcBef>
                <a:spcPts val="400"/>
              </a:spcBef>
              <a:spcAft>
                <a:spcPts val="0"/>
              </a:spcAft>
              <a:buClr>
                <a:schemeClr val="dk1"/>
              </a:buClr>
              <a:buSzPts val="2000"/>
              <a:buFont typeface="Calibri"/>
              <a:buAutoNum type="arabicPeriod"/>
            </a:pPr>
            <a:r>
              <a:rPr lang="en-US">
                <a:solidFill>
                  <a:schemeClr val="dk1"/>
                </a:solidFill>
              </a:rPr>
              <a:t>Demonstrate IT/OT integration on an open-source stack — MQTT broker (Mosquitto), Node-RED, and the TIG stack (Telegraf, InfluxDB, Grafana) — as the edge and IT layers.</a:t>
            </a:r>
            <a:endParaRPr>
              <a:solidFill>
                <a:schemeClr val="dk1"/>
              </a:solidFill>
            </a:endParaRPr>
          </a:p>
          <a:p>
            <a:pPr marL="457200" lvl="0" indent="-285750" algn="l" rtl="0">
              <a:spcBef>
                <a:spcPts val="400"/>
              </a:spcBef>
              <a:spcAft>
                <a:spcPts val="0"/>
              </a:spcAft>
              <a:buClr>
                <a:schemeClr val="dk1"/>
              </a:buClr>
              <a:buSzPts val="2000"/>
              <a:buFont typeface="Calibri"/>
              <a:buAutoNum type="arabicPeriod"/>
            </a:pPr>
            <a:r>
              <a:rPr lang="en-US">
                <a:solidFill>
                  <a:schemeClr val="dk1"/>
                </a:solidFill>
              </a:rPr>
              <a:t>Implement a Modbus RTU-to-TCP/MQTT gateway on the MCU; benchmark open-source ESP32-S3 Modbus libraries on real hardware and measure the chosen gateway's latency, throughput, and flash/RAM use.</a:t>
            </a:r>
            <a:endParaRPr>
              <a:solidFill>
                <a:schemeClr val="dk1"/>
              </a:solidFill>
            </a:endParaRPr>
          </a:p>
          <a:p>
            <a:pPr marL="457200" lvl="0" indent="-285750" algn="l" rtl="0">
              <a:spcBef>
                <a:spcPts val="400"/>
              </a:spcBef>
              <a:spcAft>
                <a:spcPts val="0"/>
              </a:spcAft>
              <a:buClr>
                <a:schemeClr val="dk1"/>
              </a:buClr>
              <a:buSzPts val="2000"/>
              <a:buFont typeface="Calibri"/>
              <a:buAutoNum type="arabicPeriod"/>
            </a:pPr>
            <a:r>
              <a:rPr lang="en-US">
                <a:solidFill>
                  <a:schemeClr val="dk1"/>
                </a:solidFill>
              </a:rPr>
              <a:t>Develop an IoT-Sniffer that decodes Modbus TCP and MQTT on the wire to observe and measure the platform's network performance.</a:t>
            </a:r>
            <a:endParaRPr>
              <a:solidFill>
                <a:schemeClr val="dk1"/>
              </a:solidFill>
            </a:endParaRPr>
          </a:p>
        </p:txBody>
      </p:sp>
      <p:sp>
        <p:nvSpPr>
          <p:cNvPr id="52" name="Google Shape;52;p1"/>
          <p:cNvSpPr txBox="1">
            <a:spLocks noGrp="1"/>
          </p:cNvSpPr>
          <p:nvPr>
            <p:ph type="body" idx="6"/>
          </p:nvPr>
        </p:nvSpPr>
        <p:spPr>
          <a:xfrm>
            <a:off x="10840632" y="17633040"/>
            <a:ext cx="10090978" cy="566030"/>
          </a:xfrm>
          <a:prstGeom prst="rect">
            <a:avLst/>
          </a:prstGeom>
          <a:noFill/>
          <a:ln>
            <a:noFill/>
          </a:ln>
        </p:spPr>
        <p:txBody>
          <a:bodyPr spcFirstLastPara="1" wrap="square" lIns="63300" tIns="63300" rIns="63300" bIns="63300" anchor="ctr" anchorCtr="0">
            <a:spAutoFit/>
          </a:bodyPr>
          <a:lstStyle/>
          <a:p>
            <a:pPr marL="0" lvl="0" indent="0" algn="l" rtl="0">
              <a:spcBef>
                <a:spcPts val="0"/>
              </a:spcBef>
              <a:spcAft>
                <a:spcPts val="0"/>
              </a:spcAft>
              <a:buClr>
                <a:schemeClr val="dk1"/>
              </a:buClr>
              <a:buSzPts val="2800"/>
              <a:buNone/>
            </a:pPr>
            <a:r>
              <a:rPr lang="en-US" u="none">
                <a:solidFill>
                  <a:schemeClr val="dk1"/>
                </a:solidFill>
                <a:latin typeface="Times New Roman"/>
                <a:ea typeface="Times New Roman"/>
                <a:cs typeface="Times New Roman"/>
                <a:sym typeface="Times New Roman"/>
              </a:rPr>
              <a:t>Conclusion and Contribution</a:t>
            </a:r>
            <a:endParaRPr/>
          </a:p>
        </p:txBody>
      </p:sp>
      <p:sp>
        <p:nvSpPr>
          <p:cNvPr id="53" name="Google Shape;53;p1"/>
          <p:cNvSpPr txBox="1">
            <a:spLocks noGrp="1"/>
          </p:cNvSpPr>
          <p:nvPr>
            <p:ph type="body" idx="7"/>
          </p:nvPr>
        </p:nvSpPr>
        <p:spPr>
          <a:xfrm>
            <a:off x="10836763" y="18194132"/>
            <a:ext cx="10094847" cy="2843393"/>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lvl="0" indent="0" algn="l" rtl="0">
              <a:spcBef>
                <a:spcPts val="0"/>
              </a:spcBef>
              <a:spcAft>
                <a:spcPts val="0"/>
              </a:spcAft>
              <a:buClr>
                <a:schemeClr val="dk1"/>
              </a:buClr>
              <a:buSzPts val="2000"/>
              <a:buNone/>
            </a:pPr>
            <a:r>
              <a:rPr lang="en-US">
                <a:solidFill>
                  <a:schemeClr val="dk1"/>
                </a:solidFill>
              </a:rPr>
              <a:t>A single sub-2,000-THB microcontroller bridges legacy serial OT to an IT dashboard within its firmware budget (72% flash, 15% RAM). The MCU, SBC, and PLC prove complementary, not competing: the MCU suits the field-edge gateway, the SBC the data plane, and the PLC certified, deterministic control. Future work: add a telemetry ring buffer and OTA updates to the gateway; add InfluxDB backups, container health checks, and Grafana alerting to the IT layer; study OPC-UA for broader interoperability; and trial the platform with students in a laboratory course to assess its educational value before pursuing real deployment.</a:t>
            </a:r>
            <a:endParaRPr>
              <a:solidFill>
                <a:schemeClr val="dk1"/>
              </a:solidFill>
            </a:endParaRPr>
          </a:p>
        </p:txBody>
      </p:sp>
      <p:sp>
        <p:nvSpPr>
          <p:cNvPr id="54" name="Google Shape;54;p1"/>
          <p:cNvSpPr txBox="1">
            <a:spLocks noGrp="1"/>
          </p:cNvSpPr>
          <p:nvPr>
            <p:ph type="body" idx="8"/>
          </p:nvPr>
        </p:nvSpPr>
        <p:spPr>
          <a:xfrm>
            <a:off x="10851647" y="27132134"/>
            <a:ext cx="10085926" cy="566030"/>
          </a:xfrm>
          <a:prstGeom prst="rect">
            <a:avLst/>
          </a:prstGeom>
          <a:noFill/>
          <a:ln>
            <a:noFill/>
          </a:ln>
        </p:spPr>
        <p:txBody>
          <a:bodyPr spcFirstLastPara="1" wrap="square" lIns="63300" tIns="63300" rIns="63300" bIns="63300" anchor="ctr" anchorCtr="0">
            <a:spAutoFit/>
          </a:bodyPr>
          <a:lstStyle/>
          <a:p>
            <a:pPr marL="0" lvl="0" indent="0" algn="l" rtl="0">
              <a:spcBef>
                <a:spcPts val="0"/>
              </a:spcBef>
              <a:spcAft>
                <a:spcPts val="0"/>
              </a:spcAft>
              <a:buClr>
                <a:schemeClr val="dk1"/>
              </a:buClr>
              <a:buSzPts val="2800"/>
              <a:buNone/>
            </a:pPr>
            <a:r>
              <a:rPr lang="en-US" u="none">
                <a:solidFill>
                  <a:schemeClr val="dk1"/>
                </a:solidFill>
                <a:latin typeface="Times New Roman"/>
                <a:ea typeface="Times New Roman"/>
                <a:cs typeface="Times New Roman"/>
                <a:sym typeface="Times New Roman"/>
              </a:rPr>
              <a:t>Acknowledgement</a:t>
            </a:r>
            <a:endParaRPr/>
          </a:p>
        </p:txBody>
      </p:sp>
      <p:sp>
        <p:nvSpPr>
          <p:cNvPr id="55" name="Google Shape;55;p1"/>
          <p:cNvSpPr txBox="1">
            <a:spLocks noGrp="1"/>
          </p:cNvSpPr>
          <p:nvPr>
            <p:ph type="body" idx="9"/>
          </p:nvPr>
        </p:nvSpPr>
        <p:spPr>
          <a:xfrm>
            <a:off x="10843823" y="27740721"/>
            <a:ext cx="10090978" cy="1043829"/>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lvl="0" indent="0" algn="l" rtl="0">
              <a:spcBef>
                <a:spcPts val="0"/>
              </a:spcBef>
              <a:spcAft>
                <a:spcPts val="0"/>
              </a:spcAft>
              <a:buClr>
                <a:schemeClr val="dk1"/>
              </a:buClr>
              <a:buSzPts val="2000"/>
              <a:buNone/>
            </a:pPr>
            <a:r>
              <a:rPr lang="en-US">
                <a:solidFill>
                  <a:schemeClr val="dk1"/>
                </a:solidFill>
              </a:rPr>
              <a:t>The author thanks the project advisor, examination committee, and the ECE Department, KMUTNB, for their guidance and support.</a:t>
            </a:r>
            <a:endParaRPr>
              <a:solidFill>
                <a:schemeClr val="dk1"/>
              </a:solidFill>
            </a:endParaRPr>
          </a:p>
        </p:txBody>
      </p:sp>
      <p:sp>
        <p:nvSpPr>
          <p:cNvPr id="56" name="Google Shape;56;p1"/>
          <p:cNvSpPr txBox="1">
            <a:spLocks noGrp="1"/>
          </p:cNvSpPr>
          <p:nvPr>
            <p:ph type="body" idx="14"/>
          </p:nvPr>
        </p:nvSpPr>
        <p:spPr>
          <a:xfrm>
            <a:off x="2890078" y="3557470"/>
            <a:ext cx="15608232" cy="1285456"/>
          </a:xfrm>
          <a:prstGeom prst="rect">
            <a:avLst/>
          </a:prstGeom>
          <a:noFill/>
          <a:ln>
            <a:noFill/>
          </a:ln>
        </p:spPr>
        <p:txBody>
          <a:bodyPr spcFirstLastPara="1" wrap="square" lIns="54675" tIns="27325" rIns="54675" bIns="27325" anchor="t" anchorCtr="0">
            <a:normAutofit fontScale="92500" lnSpcReduction="10000"/>
          </a:bodyPr>
          <a:lstStyle/>
          <a:p>
            <a:pPr marL="0" lvl="0" indent="0" algn="ctr" rtl="0">
              <a:spcBef>
                <a:spcPts val="0"/>
              </a:spcBef>
              <a:spcAft>
                <a:spcPts val="0"/>
              </a:spcAft>
              <a:buClr>
                <a:schemeClr val="dk1"/>
              </a:buClr>
              <a:buSzPct val="100000"/>
              <a:buFont typeface="Times New Roman"/>
              <a:buNone/>
            </a:pPr>
            <a:r>
              <a:rPr lang="en-US" sz="2800" dirty="0">
                <a:solidFill>
                  <a:schemeClr val="dk1"/>
                </a:solidFill>
                <a:latin typeface="Times New Roman"/>
                <a:ea typeface="Times New Roman"/>
                <a:cs typeface="Times New Roman"/>
                <a:sym typeface="Times New Roman"/>
              </a:rPr>
              <a:t>s6301011610279@email.kmutnb.ac.th</a:t>
            </a:r>
            <a:endParaRPr dirty="0"/>
          </a:p>
          <a:p>
            <a:pPr marL="0" lvl="0" indent="0" algn="ctr" rtl="0">
              <a:spcBef>
                <a:spcPts val="518"/>
              </a:spcBef>
              <a:spcAft>
                <a:spcPts val="0"/>
              </a:spcAft>
              <a:buClr>
                <a:schemeClr val="dk1"/>
              </a:buClr>
              <a:buSzPct val="100000"/>
              <a:buFont typeface="Times New Roman"/>
              <a:buNone/>
            </a:pPr>
            <a:r>
              <a:rPr lang="en-US" sz="2800" dirty="0">
                <a:solidFill>
                  <a:schemeClr val="dk1"/>
                </a:solidFill>
                <a:latin typeface="Times New Roman"/>
                <a:ea typeface="Times New Roman"/>
                <a:cs typeface="Times New Roman"/>
                <a:sym typeface="Times New Roman"/>
              </a:rPr>
              <a:t>Department of Electrical and Computer Engineering, Faculty of Engineering</a:t>
            </a:r>
            <a:endParaRPr dirty="0"/>
          </a:p>
          <a:p>
            <a:pPr marL="0" lvl="0" indent="0" algn="ctr" rtl="0">
              <a:spcBef>
                <a:spcPts val="518"/>
              </a:spcBef>
              <a:spcAft>
                <a:spcPts val="0"/>
              </a:spcAft>
              <a:buClr>
                <a:schemeClr val="dk1"/>
              </a:buClr>
              <a:buSzPct val="100000"/>
              <a:buFont typeface="Times New Roman"/>
              <a:buNone/>
            </a:pPr>
            <a:r>
              <a:rPr lang="en-US" sz="2800" dirty="0">
                <a:solidFill>
                  <a:schemeClr val="dk1"/>
                </a:solidFill>
                <a:latin typeface="Times New Roman"/>
                <a:ea typeface="Times New Roman"/>
                <a:cs typeface="Times New Roman"/>
                <a:sym typeface="Times New Roman"/>
              </a:rPr>
              <a:t>King Mongkut's University of Technology North Bangkok, Bangkok, Thailand</a:t>
            </a:r>
            <a:endParaRPr dirty="0"/>
          </a:p>
        </p:txBody>
      </p:sp>
      <p:sp>
        <p:nvSpPr>
          <p:cNvPr id="57" name="Google Shape;57;p1"/>
          <p:cNvSpPr txBox="1">
            <a:spLocks noGrp="1"/>
          </p:cNvSpPr>
          <p:nvPr>
            <p:ph type="body" idx="3"/>
          </p:nvPr>
        </p:nvSpPr>
        <p:spPr>
          <a:xfrm>
            <a:off x="437620" y="8718807"/>
            <a:ext cx="10096349" cy="566030"/>
          </a:xfrm>
          <a:prstGeom prst="rect">
            <a:avLst/>
          </a:prstGeom>
          <a:noFill/>
          <a:ln>
            <a:noFill/>
          </a:ln>
        </p:spPr>
        <p:txBody>
          <a:bodyPr spcFirstLastPara="1" wrap="square" lIns="63300" tIns="63300" rIns="63300" bIns="63300" anchor="ctr" anchorCtr="0">
            <a:spAutoFit/>
          </a:bodyPr>
          <a:lstStyle/>
          <a:p>
            <a:pPr marL="0" lvl="0" indent="0" algn="l" rtl="0">
              <a:spcBef>
                <a:spcPts val="0"/>
              </a:spcBef>
              <a:spcAft>
                <a:spcPts val="0"/>
              </a:spcAft>
              <a:buClr>
                <a:schemeClr val="dk1"/>
              </a:buClr>
              <a:buSzPts val="2800"/>
              <a:buNone/>
            </a:pPr>
            <a:r>
              <a:rPr lang="en-US" u="none">
                <a:solidFill>
                  <a:schemeClr val="dk1"/>
                </a:solidFill>
                <a:latin typeface="Times New Roman"/>
                <a:ea typeface="Times New Roman"/>
                <a:cs typeface="Times New Roman"/>
                <a:sym typeface="Times New Roman"/>
              </a:rPr>
              <a:t>Introduction</a:t>
            </a:r>
            <a:endParaRPr/>
          </a:p>
        </p:txBody>
      </p:sp>
      <p:sp>
        <p:nvSpPr>
          <p:cNvPr id="58" name="Google Shape;58;p1"/>
          <p:cNvSpPr txBox="1">
            <a:spLocks noGrp="1"/>
          </p:cNvSpPr>
          <p:nvPr>
            <p:ph type="body" idx="13"/>
          </p:nvPr>
        </p:nvSpPr>
        <p:spPr>
          <a:xfrm>
            <a:off x="428775" y="9281215"/>
            <a:ext cx="10102728" cy="4505386"/>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lvl="0" indent="0" algn="l" rtl="0">
              <a:spcBef>
                <a:spcPts val="0"/>
              </a:spcBef>
              <a:spcAft>
                <a:spcPts val="0"/>
              </a:spcAft>
              <a:buClr>
                <a:schemeClr val="dk1"/>
              </a:buClr>
              <a:buSzPts val="2000"/>
              <a:buNone/>
            </a:pPr>
            <a:r>
              <a:rPr lang="en-US">
                <a:solidFill>
                  <a:schemeClr val="dk1"/>
                </a:solidFill>
              </a:rPr>
              <a:t>Industry 4.0 pushes factories to expose shop-floor data to IT systems for monitoring and remote supervision, yet operational-technology (OT) equipment still speaks decades-old protocols. Modbus, introduced in 1979, remains one of the most widely deployed field protocols, and in its serial RTU form runs over RS-485 with no native path to an IP network. Replacing legacy field hardware outright is rarely economic, so the real problem is integration: lifting OT signals into IT dashboards at low cost without compromising the determinism OT depends on. Students entering the field must understand all three controller classes — MCU, SBC, and PLC — which differ not only in compute and I/O but in software ecosystem: the MCU and SBC run open-source toolchains (Arduino/PlatformIO, Linux/Docker), while the PLC is locked to a proprietary vendor toolchain. Commercial IIoT trainers are expensive and closed, hiding the wire-level behaviour learners need to see, and no empirical comparison guides which open-source Modbus library to use.</a:t>
            </a:r>
            <a:endParaRPr>
              <a:solidFill>
                <a:schemeClr val="dk1"/>
              </a:solidFill>
            </a:endParaRPr>
          </a:p>
        </p:txBody>
      </p:sp>
      <p:sp>
        <p:nvSpPr>
          <p:cNvPr id="59" name="Google Shape;59;p1"/>
          <p:cNvSpPr txBox="1">
            <a:spLocks noGrp="1"/>
          </p:cNvSpPr>
          <p:nvPr>
            <p:ph type="body" idx="15"/>
          </p:nvPr>
        </p:nvSpPr>
        <p:spPr>
          <a:xfrm>
            <a:off x="2890078" y="2250985"/>
            <a:ext cx="15608232" cy="1318684"/>
          </a:xfrm>
          <a:prstGeom prst="rect">
            <a:avLst/>
          </a:prstGeom>
          <a:noFill/>
          <a:ln>
            <a:noFill/>
          </a:ln>
        </p:spPr>
        <p:txBody>
          <a:bodyPr spcFirstLastPara="1" wrap="square" lIns="54675" tIns="27325" rIns="54675" bIns="27325" anchor="t" anchorCtr="1">
            <a:normAutofit/>
          </a:bodyPr>
          <a:lstStyle/>
          <a:p>
            <a:pPr marL="0" lvl="0" indent="0" algn="ctr" rtl="0">
              <a:spcBef>
                <a:spcPts val="0"/>
              </a:spcBef>
              <a:spcAft>
                <a:spcPts val="0"/>
              </a:spcAft>
              <a:buClr>
                <a:schemeClr val="dk1"/>
              </a:buClr>
              <a:buSzPct val="100000"/>
              <a:buFont typeface="Times New Roman"/>
              <a:buNone/>
            </a:pPr>
            <a:r>
              <a:rPr lang="en-US" sz="3600" b="1" dirty="0">
                <a:solidFill>
                  <a:schemeClr val="dk1"/>
                </a:solidFill>
                <a:latin typeface="Times New Roman"/>
                <a:ea typeface="Times New Roman"/>
                <a:cs typeface="Times New Roman"/>
                <a:sym typeface="Times New Roman"/>
              </a:rPr>
              <a:t>Patthanan </a:t>
            </a:r>
            <a:r>
              <a:rPr lang="en-US" sz="3600" b="1" dirty="0" err="1">
                <a:solidFill>
                  <a:schemeClr val="dk1"/>
                </a:solidFill>
                <a:latin typeface="Times New Roman"/>
                <a:ea typeface="Times New Roman"/>
                <a:cs typeface="Times New Roman"/>
                <a:sym typeface="Times New Roman"/>
              </a:rPr>
              <a:t>Bhundhumani</a:t>
            </a:r>
            <a:endParaRPr dirty="0"/>
          </a:p>
          <a:p>
            <a:pPr marL="0" lvl="0" indent="0" algn="ctr" rtl="0">
              <a:spcBef>
                <a:spcPts val="666"/>
              </a:spcBef>
              <a:spcAft>
                <a:spcPts val="0"/>
              </a:spcAft>
              <a:buClr>
                <a:schemeClr val="dk1"/>
              </a:buClr>
              <a:buSzPct val="100000"/>
              <a:buFont typeface="Times New Roman"/>
              <a:buNone/>
            </a:pPr>
            <a:r>
              <a:rPr lang="en-US" sz="3600" b="1" dirty="0">
                <a:solidFill>
                  <a:schemeClr val="dk1"/>
                </a:solidFill>
                <a:latin typeface="Times New Roman"/>
                <a:ea typeface="Times New Roman"/>
                <a:cs typeface="Times New Roman"/>
                <a:sym typeface="Times New Roman"/>
              </a:rPr>
              <a:t>Advisor: Dr.-Ing. Rawat </a:t>
            </a:r>
            <a:r>
              <a:rPr lang="en-US" sz="3600" b="1" dirty="0" err="1">
                <a:solidFill>
                  <a:schemeClr val="dk1"/>
                </a:solidFill>
                <a:latin typeface="Times New Roman"/>
                <a:ea typeface="Times New Roman"/>
                <a:cs typeface="Times New Roman"/>
                <a:sym typeface="Times New Roman"/>
              </a:rPr>
              <a:t>Siriphokhapirom</a:t>
            </a:r>
            <a:endParaRPr dirty="0"/>
          </a:p>
        </p:txBody>
      </p:sp>
      <p:sp>
        <p:nvSpPr>
          <p:cNvPr id="60" name="Google Shape;60;p1"/>
          <p:cNvSpPr txBox="1">
            <a:spLocks noGrp="1"/>
          </p:cNvSpPr>
          <p:nvPr>
            <p:ph type="body" idx="16"/>
          </p:nvPr>
        </p:nvSpPr>
        <p:spPr>
          <a:xfrm>
            <a:off x="0" y="-1"/>
            <a:ext cx="21388388" cy="2027311"/>
          </a:xfrm>
          <a:prstGeom prst="rect">
            <a:avLst/>
          </a:prstGeom>
          <a:solidFill>
            <a:srgbClr val="DD6115"/>
          </a:solidFill>
          <a:ln>
            <a:noFill/>
          </a:ln>
        </p:spPr>
        <p:txBody>
          <a:bodyPr spcFirstLastPara="1" wrap="square" lIns="54675" tIns="27325" rIns="54675" bIns="27325" anchor="ctr" anchorCtr="1">
            <a:normAutofit/>
          </a:bodyPr>
          <a:lstStyle/>
          <a:p>
            <a:pPr marL="0" lvl="0" indent="0" algn="ctr" rtl="0">
              <a:spcBef>
                <a:spcPts val="0"/>
              </a:spcBef>
              <a:spcAft>
                <a:spcPts val="0"/>
              </a:spcAft>
              <a:buClr>
                <a:schemeClr val="lt1"/>
              </a:buClr>
              <a:buSzPts val="9900"/>
              <a:buFont typeface="Times New Roman"/>
              <a:buNone/>
            </a:pPr>
            <a:r>
              <a:rPr lang="en-US" sz="5200">
                <a:solidFill>
                  <a:schemeClr val="lt1"/>
                </a:solidFill>
                <a:latin typeface="Times New Roman"/>
                <a:ea typeface="Times New Roman"/>
                <a:cs typeface="Times New Roman"/>
                <a:sym typeface="Times New Roman"/>
              </a:rPr>
              <a:t>Design and Implementation of an Educational Industrial IoT Platform Combining SBC, MCU, and PLC</a:t>
            </a:r>
            <a:endParaRPr/>
          </a:p>
        </p:txBody>
      </p:sp>
      <p:sp>
        <p:nvSpPr>
          <p:cNvPr id="61" name="Google Shape;61;p1"/>
          <p:cNvSpPr txBox="1"/>
          <p:nvPr/>
        </p:nvSpPr>
        <p:spPr>
          <a:xfrm>
            <a:off x="10851647" y="21251248"/>
            <a:ext cx="10096349" cy="566030"/>
          </a:xfrm>
          <a:prstGeom prst="rect">
            <a:avLst/>
          </a:prstGeom>
          <a:noFill/>
          <a:ln>
            <a:noFill/>
          </a:ln>
        </p:spPr>
        <p:txBody>
          <a:bodyPr spcFirstLastPara="1" wrap="square" lIns="63300" tIns="63300" rIns="63300" bIns="63300" anchor="ctr" anchorCtr="0">
            <a:spAutoFit/>
          </a:bodyPr>
          <a:lstStyle/>
          <a:p>
            <a:pPr marL="0" marR="0" lvl="0" indent="0" algn="l" rtl="0">
              <a:spcBef>
                <a:spcPts val="0"/>
              </a:spcBef>
              <a:spcAft>
                <a:spcPts val="0"/>
              </a:spcAft>
              <a:buClr>
                <a:schemeClr val="dk1"/>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Related Courses :</a:t>
            </a:r>
            <a:endParaRPr/>
          </a:p>
        </p:txBody>
      </p:sp>
      <p:sp>
        <p:nvSpPr>
          <p:cNvPr id="62" name="Google Shape;62;p1"/>
          <p:cNvSpPr txBox="1"/>
          <p:nvPr/>
        </p:nvSpPr>
        <p:spPr>
          <a:xfrm>
            <a:off x="10854245" y="21874428"/>
            <a:ext cx="2091922" cy="1366065"/>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marR="0" lvl="0" indent="0" algn="l" rtl="0">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Course ID</a:t>
            </a:r>
            <a:endParaRPr/>
          </a:p>
          <a:p>
            <a:pPr marL="361950" marR="0" lvl="0" indent="-285750" algn="l" rtl="0">
              <a:spcBef>
                <a:spcPts val="400"/>
              </a:spcBef>
              <a:spcAft>
                <a:spcPts val="0"/>
              </a:spcAft>
              <a:buClr>
                <a:schemeClr val="dk1"/>
              </a:buClr>
              <a:buSzPts val="2000"/>
              <a:buFont typeface="Calibri"/>
              <a:buAutoNum type="arabicPeriod"/>
            </a:pPr>
            <a:r>
              <a:rPr lang="en-US" sz="2000" b="0" i="0" u="none" strike="noStrike" cap="none">
                <a:solidFill>
                  <a:schemeClr val="dk1"/>
                </a:solidFill>
                <a:latin typeface="Times New Roman"/>
                <a:ea typeface="Times New Roman"/>
                <a:cs typeface="Times New Roman"/>
                <a:sym typeface="Times New Roman"/>
              </a:rPr>
              <a:t>010113027</a:t>
            </a:r>
            <a:endParaRPr sz="2000" b="0" i="0" u="none" strike="noStrike" cap="none">
              <a:solidFill>
                <a:schemeClr val="dk1"/>
              </a:solidFill>
              <a:latin typeface="Times New Roman"/>
              <a:ea typeface="Times New Roman"/>
              <a:cs typeface="Times New Roman"/>
              <a:sym typeface="Times New Roman"/>
            </a:endParaRPr>
          </a:p>
          <a:p>
            <a:pPr marL="361950" marR="0" lvl="0" indent="-285750" algn="l" rtl="0">
              <a:spcBef>
                <a:spcPts val="400"/>
              </a:spcBef>
              <a:spcAft>
                <a:spcPts val="0"/>
              </a:spcAft>
              <a:buClr>
                <a:schemeClr val="dk1"/>
              </a:buClr>
              <a:buSzPts val="2000"/>
              <a:buFont typeface="Calibri"/>
              <a:buAutoNum type="arabicPeriod"/>
            </a:pPr>
            <a:r>
              <a:rPr lang="en-US" sz="2000" b="0" i="0" u="none" strike="noStrike" cap="none">
                <a:solidFill>
                  <a:schemeClr val="dk1"/>
                </a:solidFill>
                <a:latin typeface="Times New Roman"/>
                <a:ea typeface="Times New Roman"/>
                <a:cs typeface="Times New Roman"/>
                <a:sym typeface="Times New Roman"/>
              </a:rPr>
              <a:t>010113029</a:t>
            </a:r>
            <a:endParaRPr sz="2000" b="0" i="0" u="none" strike="noStrike" cap="none">
              <a:solidFill>
                <a:schemeClr val="dk1"/>
              </a:solidFill>
              <a:latin typeface="Times New Roman"/>
              <a:ea typeface="Times New Roman"/>
              <a:cs typeface="Times New Roman"/>
              <a:sym typeface="Times New Roman"/>
            </a:endParaRPr>
          </a:p>
        </p:txBody>
      </p:sp>
      <p:sp>
        <p:nvSpPr>
          <p:cNvPr id="63" name="Google Shape;63;p1"/>
          <p:cNvSpPr txBox="1"/>
          <p:nvPr/>
        </p:nvSpPr>
        <p:spPr>
          <a:xfrm>
            <a:off x="12946166" y="21874428"/>
            <a:ext cx="7989987" cy="1366065"/>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marR="0" lvl="0" indent="0" algn="l" rtl="0">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Course Name</a:t>
            </a:r>
            <a:endParaRPr/>
          </a:p>
          <a:p>
            <a:pPr marL="361950" marR="0" lvl="0" indent="-285750" algn="l" rtl="0">
              <a:spcBef>
                <a:spcPts val="400"/>
              </a:spcBef>
              <a:spcAft>
                <a:spcPts val="0"/>
              </a:spcAft>
              <a:buClr>
                <a:schemeClr val="dk1"/>
              </a:buClr>
              <a:buSzPts val="2000"/>
              <a:buFont typeface="Calibri"/>
              <a:buAutoNum type="arabicPeriod"/>
            </a:pPr>
            <a:r>
              <a:rPr lang="en-US" sz="2000" b="0" i="0" u="none" strike="noStrike" cap="none">
                <a:solidFill>
                  <a:schemeClr val="dk1"/>
                </a:solidFill>
                <a:latin typeface="Times New Roman"/>
                <a:ea typeface="Times New Roman"/>
                <a:cs typeface="Times New Roman"/>
                <a:sym typeface="Times New Roman"/>
              </a:rPr>
              <a:t>MICROPRO &amp; EMBEDDED COMP SYS</a:t>
            </a:r>
            <a:endParaRPr sz="2000" b="0" i="0" u="none" strike="noStrike" cap="none">
              <a:solidFill>
                <a:schemeClr val="dk1"/>
              </a:solidFill>
              <a:latin typeface="Times New Roman"/>
              <a:ea typeface="Times New Roman"/>
              <a:cs typeface="Times New Roman"/>
              <a:sym typeface="Times New Roman"/>
            </a:endParaRPr>
          </a:p>
          <a:p>
            <a:pPr marL="361950" marR="0" lvl="0" indent="-285750" algn="l" rtl="0">
              <a:spcBef>
                <a:spcPts val="400"/>
              </a:spcBef>
              <a:spcAft>
                <a:spcPts val="0"/>
              </a:spcAft>
              <a:buClr>
                <a:schemeClr val="dk1"/>
              </a:buClr>
              <a:buSzPts val="2000"/>
              <a:buFont typeface="Calibri"/>
              <a:buAutoNum type="arabicPeriod"/>
            </a:pPr>
            <a:r>
              <a:rPr lang="en-US" sz="2000" b="0" i="0" u="none" strike="noStrike" cap="none">
                <a:solidFill>
                  <a:schemeClr val="dk1"/>
                </a:solidFill>
                <a:latin typeface="Times New Roman"/>
                <a:ea typeface="Times New Roman"/>
                <a:cs typeface="Times New Roman"/>
                <a:sym typeface="Times New Roman"/>
              </a:rPr>
              <a:t>COMPUTER PROGRAMMING</a:t>
            </a:r>
            <a:endParaRPr sz="2000" b="0" i="0" u="none" strike="noStrike" cap="none">
              <a:solidFill>
                <a:schemeClr val="dk1"/>
              </a:solidFill>
              <a:latin typeface="Times New Roman"/>
              <a:ea typeface="Times New Roman"/>
              <a:cs typeface="Times New Roman"/>
              <a:sym typeface="Times New Roman"/>
            </a:endParaRPr>
          </a:p>
        </p:txBody>
      </p:sp>
      <p:sp>
        <p:nvSpPr>
          <p:cNvPr id="64" name="Google Shape;64;p1"/>
          <p:cNvSpPr/>
          <p:nvPr/>
        </p:nvSpPr>
        <p:spPr>
          <a:xfrm>
            <a:off x="0" y="29109394"/>
            <a:ext cx="21388388" cy="1165819"/>
          </a:xfrm>
          <a:prstGeom prst="rect">
            <a:avLst/>
          </a:prstGeom>
          <a:solidFill>
            <a:srgbClr val="DD611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0" b="0" i="0" u="none" strike="noStrike" cap="none">
              <a:solidFill>
                <a:schemeClr val="lt1"/>
              </a:solidFill>
              <a:latin typeface="Calibri"/>
              <a:ea typeface="Calibri"/>
              <a:cs typeface="Calibri"/>
              <a:sym typeface="Calibri"/>
            </a:endParaRPr>
          </a:p>
        </p:txBody>
      </p:sp>
      <p:cxnSp>
        <p:nvCxnSpPr>
          <p:cNvPr id="65" name="Google Shape;65;p1"/>
          <p:cNvCxnSpPr/>
          <p:nvPr/>
        </p:nvCxnSpPr>
        <p:spPr>
          <a:xfrm>
            <a:off x="0" y="5048878"/>
            <a:ext cx="21388388" cy="0"/>
          </a:xfrm>
          <a:prstGeom prst="straightConnector1">
            <a:avLst/>
          </a:prstGeom>
          <a:noFill/>
          <a:ln w="127000" cap="flat" cmpd="sng">
            <a:solidFill>
              <a:srgbClr val="A5A5A5"/>
            </a:solidFill>
            <a:prstDash val="solid"/>
            <a:round/>
            <a:headEnd type="none" w="sm" len="sm"/>
            <a:tailEnd type="none" w="sm" len="sm"/>
          </a:ln>
        </p:spPr>
      </p:cxnSp>
      <p:sp>
        <p:nvSpPr>
          <p:cNvPr id="66" name="Google Shape;66;p1"/>
          <p:cNvSpPr txBox="1"/>
          <p:nvPr/>
        </p:nvSpPr>
        <p:spPr>
          <a:xfrm>
            <a:off x="0" y="29087604"/>
            <a:ext cx="21388388" cy="1187609"/>
          </a:xfrm>
          <a:prstGeom prst="rect">
            <a:avLst/>
          </a:prstGeom>
          <a:noFill/>
          <a:ln>
            <a:noFill/>
          </a:ln>
        </p:spPr>
        <p:txBody>
          <a:bodyPr spcFirstLastPara="1" wrap="square" lIns="54675" tIns="27325" rIns="54675" bIns="27325" anchor="ctr" anchorCtr="0">
            <a:normAutofit/>
          </a:bodyPr>
          <a:lstStyle/>
          <a:p>
            <a:pPr marL="0" marR="0" lvl="0" indent="0" algn="ctr" rtl="0">
              <a:spcBef>
                <a:spcPts val="0"/>
              </a:spcBef>
              <a:spcAft>
                <a:spcPts val="0"/>
              </a:spcAft>
              <a:buClr>
                <a:schemeClr val="lt1"/>
              </a:buClr>
              <a:buSzPts val="2200"/>
              <a:buFont typeface="Times New Roman"/>
              <a:buNone/>
            </a:pPr>
            <a:r>
              <a:rPr lang="en-US" sz="2200" b="1" i="0" u="none" strike="noStrike" cap="none">
                <a:solidFill>
                  <a:schemeClr val="lt1"/>
                </a:solidFill>
                <a:latin typeface="Times New Roman"/>
                <a:ea typeface="Times New Roman"/>
                <a:cs typeface="Times New Roman"/>
                <a:sym typeface="Times New Roman"/>
              </a:rPr>
              <a:t>Copyright © Department of Electrical and Computer Engineering, King Mongkut's University of Technology North Bangkok, Bangkok, Thailand</a:t>
            </a:r>
            <a:endParaRPr/>
          </a:p>
          <a:p>
            <a:pPr marL="0" marR="0" lvl="0" indent="0" algn="ctr" rtl="0">
              <a:spcBef>
                <a:spcPts val="440"/>
              </a:spcBef>
              <a:spcAft>
                <a:spcPts val="0"/>
              </a:spcAft>
              <a:buClr>
                <a:schemeClr val="lt1"/>
              </a:buClr>
              <a:buSzPts val="2200"/>
              <a:buFont typeface="Times New Roman"/>
              <a:buNone/>
            </a:pPr>
            <a:r>
              <a:rPr lang="en-US" sz="2200" b="1" i="0" u="none" strike="noStrike" cap="none">
                <a:solidFill>
                  <a:schemeClr val="lt1"/>
                </a:solidFill>
                <a:latin typeface="Times New Roman"/>
                <a:ea typeface="Times New Roman"/>
                <a:cs typeface="Times New Roman"/>
                <a:sym typeface="Times New Roman"/>
              </a:rPr>
              <a:t>Academic Year : 2025</a:t>
            </a:r>
            <a:endParaRPr/>
          </a:p>
        </p:txBody>
      </p:sp>
      <p:sp>
        <p:nvSpPr>
          <p:cNvPr id="67" name="Google Shape;67;p1"/>
          <p:cNvSpPr txBox="1"/>
          <p:nvPr/>
        </p:nvSpPr>
        <p:spPr>
          <a:xfrm>
            <a:off x="467683" y="18229782"/>
            <a:ext cx="10096349" cy="566030"/>
          </a:xfrm>
          <a:prstGeom prst="rect">
            <a:avLst/>
          </a:prstGeom>
          <a:noFill/>
          <a:ln>
            <a:noFill/>
          </a:ln>
        </p:spPr>
        <p:txBody>
          <a:bodyPr spcFirstLastPara="1" wrap="square" lIns="63300" tIns="63300" rIns="63300" bIns="63300" anchor="ctr" anchorCtr="0">
            <a:spAutoFit/>
          </a:bodyPr>
          <a:lstStyle/>
          <a:p>
            <a:pPr marL="0" marR="0" lvl="0" indent="0" algn="l" rtl="0">
              <a:spcBef>
                <a:spcPts val="0"/>
              </a:spcBef>
              <a:spcAft>
                <a:spcPts val="0"/>
              </a:spcAft>
              <a:buClr>
                <a:schemeClr val="dk1"/>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Methodology</a:t>
            </a:r>
            <a:endParaRPr/>
          </a:p>
        </p:txBody>
      </p:sp>
      <p:sp>
        <p:nvSpPr>
          <p:cNvPr id="68" name="Google Shape;68;p1"/>
          <p:cNvSpPr txBox="1"/>
          <p:nvPr/>
        </p:nvSpPr>
        <p:spPr>
          <a:xfrm>
            <a:off x="449463" y="18886442"/>
            <a:ext cx="10102728" cy="9904310"/>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marR="0" lvl="0" indent="0" algn="l" rtl="0">
              <a:spcBef>
                <a:spcPts val="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Overall architecture: the platform integrates the three controller classes on a single LAN. Field instruments — an XY-MD02 temperature/humidity sensor and an </a:t>
            </a:r>
            <a:r>
              <a:rPr lang="en-US" sz="2000" b="0" i="0" u="none" strike="noStrike" cap="none" dirty="0" err="1">
                <a:solidFill>
                  <a:schemeClr val="dk1"/>
                </a:solidFill>
                <a:latin typeface="Times New Roman"/>
                <a:ea typeface="Times New Roman"/>
                <a:cs typeface="Times New Roman"/>
                <a:sym typeface="Times New Roman"/>
              </a:rPr>
              <a:t>Eastron</a:t>
            </a:r>
            <a:r>
              <a:rPr lang="en-US" sz="2000" b="0" i="0" u="none" strike="noStrike" cap="none" dirty="0">
                <a:solidFill>
                  <a:schemeClr val="dk1"/>
                </a:solidFill>
                <a:latin typeface="Times New Roman"/>
                <a:ea typeface="Times New Roman"/>
                <a:cs typeface="Times New Roman"/>
                <a:sym typeface="Times New Roman"/>
              </a:rPr>
              <a:t> SDM230 power meter — are Modbus RTU slaves on an RS-485 bus. The Siemens LOGO! 24CE PLC performs deterministic control with industrial I/O; the ESP32-S3 edge gateway converts protocols; the Raspberry Pi 4 hosts the MQTT broker and the TIG data plane.</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Two data paths run in parallel. Path A (direct Modbus TCP): any LAN host, including the PLC acting as master, polls a Modbus TCP server. Path B (telemetry pipeline): the ESP32-S3 polls the RTU sensors, publishes JSON over MQTT, and Telegraf ingests it into </a:t>
            </a:r>
            <a:r>
              <a:rPr lang="en-US" sz="2000" b="0" i="0" u="none" strike="noStrike" cap="none" dirty="0" err="1">
                <a:solidFill>
                  <a:schemeClr val="dk1"/>
                </a:solidFill>
                <a:latin typeface="Times New Roman"/>
                <a:ea typeface="Times New Roman"/>
                <a:cs typeface="Times New Roman"/>
                <a:sym typeface="Times New Roman"/>
              </a:rPr>
              <a:t>InfluxDB</a:t>
            </a:r>
            <a:r>
              <a:rPr lang="en-US" sz="2000" b="0" i="0" u="none" strike="noStrike" cap="none" dirty="0">
                <a:solidFill>
                  <a:schemeClr val="dk1"/>
                </a:solidFill>
                <a:latin typeface="Times New Roman"/>
                <a:ea typeface="Times New Roman"/>
                <a:cs typeface="Times New Roman"/>
                <a:sym typeface="Times New Roman"/>
              </a:rPr>
              <a:t> for display in Grafana.</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Gateway timing budget (per cycle):</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200" b="1" i="0" u="none" strike="noStrike" cap="none" dirty="0">
                <a:solidFill>
                  <a:schemeClr val="dk1"/>
                </a:solidFill>
                <a:latin typeface="Times New Roman"/>
                <a:ea typeface="Times New Roman"/>
                <a:cs typeface="Times New Roman"/>
                <a:sym typeface="Times New Roman"/>
              </a:rPr>
              <a:t>t(RTU poll) + t(MQTT publish) + t(TCP service)  &lt;  2,000 </a:t>
            </a:r>
            <a:r>
              <a:rPr lang="en-US" sz="2200" b="1" i="0" u="none" strike="noStrike" cap="none" dirty="0" err="1">
                <a:solidFill>
                  <a:schemeClr val="dk1"/>
                </a:solidFill>
                <a:latin typeface="Times New Roman"/>
                <a:ea typeface="Times New Roman"/>
                <a:cs typeface="Times New Roman"/>
                <a:sym typeface="Times New Roman"/>
              </a:rPr>
              <a:t>ms</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The production firmware runs the chosen Modbus library as a TCP slave, a hand-rolled RTU master, an MQTT publisher, and a watchdog from one cooperative loop: 946 KB / 1,310 KB flash (72.2%) and 48.5 KB / 327.6 KB RAM (14.8%) — a complete dual-protocol gateway with headroom to spare.</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Library selection: </a:t>
            </a:r>
            <a:r>
              <a:rPr lang="en-US" sz="2000" b="0" i="0" u="none" strike="noStrike" cap="none" dirty="0" err="1">
                <a:solidFill>
                  <a:schemeClr val="dk1"/>
                </a:solidFill>
                <a:latin typeface="Times New Roman"/>
                <a:ea typeface="Times New Roman"/>
                <a:cs typeface="Times New Roman"/>
                <a:sym typeface="Times New Roman"/>
              </a:rPr>
              <a:t>emelianov</a:t>
            </a:r>
            <a:r>
              <a:rPr lang="en-US" sz="2000" b="0" i="0" u="none" strike="noStrike" cap="none">
                <a:solidFill>
                  <a:schemeClr val="dk1"/>
                </a:solidFill>
                <a:latin typeface="Times New Roman"/>
                <a:ea typeface="Times New Roman"/>
                <a:cs typeface="Times New Roman"/>
                <a:sym typeface="Times New Roman"/>
              </a:rPr>
              <a:t>/modbus-esp8266 was chosen — the only actively maintained candidate offering RTU master, Modbus TCP slave, and multi-client TCP together (see Analysis and Results).</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Concurrent firmware roles: each pass of the cooperative loop services a Modbus RTU master (polls the field sensors over RS-485 with CRC-16 framing, FC03/FC04), an MQTT publisher (</a:t>
            </a:r>
            <a:r>
              <a:rPr lang="en-US" sz="2000" b="0" i="0" u="none" strike="noStrike" cap="none" dirty="0" err="1">
                <a:solidFill>
                  <a:schemeClr val="dk1"/>
                </a:solidFill>
                <a:latin typeface="Times New Roman"/>
                <a:ea typeface="Times New Roman"/>
                <a:cs typeface="Times New Roman"/>
                <a:sym typeface="Times New Roman"/>
              </a:rPr>
              <a:t>serialises</a:t>
            </a:r>
            <a:r>
              <a:rPr lang="en-US" sz="2000" b="0" i="0" u="none" strike="noStrike" cap="none" dirty="0">
                <a:solidFill>
                  <a:schemeClr val="dk1"/>
                </a:solidFill>
                <a:latin typeface="Times New Roman"/>
                <a:ea typeface="Times New Roman"/>
                <a:cs typeface="Times New Roman"/>
                <a:sym typeface="Times New Roman"/>
              </a:rPr>
              <a:t> readings to JSON at QoS 1), a Modbus TCP slave (serves the same readings on port 502 as holding registers HR0–HR20), and a watchdog (forces a clean restart on a stalled cycle).</a:t>
            </a:r>
            <a:endParaRPr sz="2000" b="0" i="0" u="none" strike="noStrike" cap="none" dirty="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IoT-Sniffer: a passive Python protocol </a:t>
            </a:r>
            <a:r>
              <a:rPr lang="en-US" sz="2000" b="0" i="0" u="none" strike="noStrike" cap="none" dirty="0" err="1">
                <a:solidFill>
                  <a:schemeClr val="dk1"/>
                </a:solidFill>
                <a:latin typeface="Times New Roman"/>
                <a:ea typeface="Times New Roman"/>
                <a:cs typeface="Times New Roman"/>
                <a:sym typeface="Times New Roman"/>
              </a:rPr>
              <a:t>analyser</a:t>
            </a:r>
            <a:r>
              <a:rPr lang="en-US" sz="2000" b="0" i="0" u="none" strike="noStrike" cap="none" dirty="0">
                <a:solidFill>
                  <a:schemeClr val="dk1"/>
                </a:solidFill>
                <a:latin typeface="Times New Roman"/>
                <a:ea typeface="Times New Roman"/>
                <a:cs typeface="Times New Roman"/>
                <a:sym typeface="Times New Roman"/>
              </a:rPr>
              <a:t> verifies the gateway on the wire. It runs </a:t>
            </a:r>
            <a:r>
              <a:rPr lang="en-US" sz="2000" b="0" i="0" u="none" strike="noStrike" cap="none" dirty="0" err="1">
                <a:solidFill>
                  <a:schemeClr val="dk1"/>
                </a:solidFill>
                <a:latin typeface="Times New Roman"/>
                <a:ea typeface="Times New Roman"/>
                <a:cs typeface="Times New Roman"/>
                <a:sym typeface="Times New Roman"/>
              </a:rPr>
              <a:t>scapy's</a:t>
            </a:r>
            <a:r>
              <a:rPr lang="en-US" sz="2000" b="0" i="0" u="none" strike="noStrike" cap="none" dirty="0">
                <a:solidFill>
                  <a:schemeClr val="dk1"/>
                </a:solidFill>
                <a:latin typeface="Times New Roman"/>
                <a:ea typeface="Times New Roman"/>
                <a:cs typeface="Times New Roman"/>
                <a:sym typeface="Times New Roman"/>
              </a:rPr>
              <a:t> </a:t>
            </a:r>
            <a:r>
              <a:rPr lang="en-US" sz="2000" b="0" i="0" u="none" strike="noStrike" cap="none" dirty="0" err="1">
                <a:solidFill>
                  <a:schemeClr val="dk1"/>
                </a:solidFill>
                <a:latin typeface="Times New Roman"/>
                <a:ea typeface="Times New Roman"/>
                <a:cs typeface="Times New Roman"/>
                <a:sym typeface="Times New Roman"/>
              </a:rPr>
              <a:t>AsyncSniffer</a:t>
            </a:r>
            <a:r>
              <a:rPr lang="en-US" sz="2000" b="0" i="0" u="none" strike="noStrike" cap="none" dirty="0">
                <a:solidFill>
                  <a:schemeClr val="dk1"/>
                </a:solidFill>
                <a:latin typeface="Times New Roman"/>
                <a:ea typeface="Times New Roman"/>
                <a:cs typeface="Times New Roman"/>
                <a:sym typeface="Times New Roman"/>
              </a:rPr>
              <a:t> directly on the host NIC — no tap or port-mirror needed — and decodes Modbus TCP and MQTT at the application layer, reassembling out-of-order TCP segments and parsing the MBAP header and function codes to confirm every request/response pair matches firmware intent.</a:t>
            </a:r>
            <a:endParaRPr sz="2000" b="0" i="0" u="none" strike="noStrike" cap="none" dirty="0">
              <a:solidFill>
                <a:schemeClr val="dk1"/>
              </a:solidFill>
              <a:latin typeface="Times New Roman"/>
              <a:ea typeface="Times New Roman"/>
              <a:cs typeface="Times New Roman"/>
              <a:sym typeface="Times New Roman"/>
            </a:endParaRPr>
          </a:p>
        </p:txBody>
      </p:sp>
      <p:sp>
        <p:nvSpPr>
          <p:cNvPr id="69" name="Google Shape;69;p1"/>
          <p:cNvSpPr txBox="1"/>
          <p:nvPr/>
        </p:nvSpPr>
        <p:spPr>
          <a:xfrm>
            <a:off x="10841224" y="5267558"/>
            <a:ext cx="10096349" cy="566030"/>
          </a:xfrm>
          <a:prstGeom prst="rect">
            <a:avLst/>
          </a:prstGeom>
          <a:noFill/>
          <a:ln>
            <a:noFill/>
          </a:ln>
        </p:spPr>
        <p:txBody>
          <a:bodyPr spcFirstLastPara="1" wrap="square" lIns="63300" tIns="63300" rIns="63300" bIns="63300" anchor="ctr" anchorCtr="0">
            <a:spAutoFit/>
          </a:bodyPr>
          <a:lstStyle/>
          <a:p>
            <a:pPr marL="0" marR="0" lvl="0" indent="0" algn="l" rtl="0">
              <a:spcBef>
                <a:spcPts val="0"/>
              </a:spcBef>
              <a:spcAft>
                <a:spcPts val="0"/>
              </a:spcAft>
              <a:buClr>
                <a:schemeClr val="dk1"/>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Analysis and Results</a:t>
            </a:r>
            <a:endParaRPr/>
          </a:p>
        </p:txBody>
      </p:sp>
      <p:sp>
        <p:nvSpPr>
          <p:cNvPr id="70" name="Google Shape;70;p1"/>
          <p:cNvSpPr txBox="1"/>
          <p:nvPr/>
        </p:nvSpPr>
        <p:spPr>
          <a:xfrm>
            <a:off x="10841225" y="5818982"/>
            <a:ext cx="10085926" cy="1000000"/>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marR="0" lvl="0" indent="0" algn="l" rtl="0">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System architecture (below): the Raspberry Pi 4 (TIG stack + MQTT + IoT-Sniffer) bridges over Ethernet to a wired industrial network (PLC, Modbus TCP) and a wireless edge (ESP32-S3, MQTT + Modbus RTU master).</a:t>
            </a:r>
            <a:endParaRPr sz="2000" b="0" i="0" u="none" strike="noStrike" cap="none">
              <a:solidFill>
                <a:schemeClr val="dk1"/>
              </a:solidFill>
              <a:latin typeface="Times New Roman"/>
              <a:ea typeface="Times New Roman"/>
              <a:cs typeface="Times New Roman"/>
              <a:sym typeface="Times New Roman"/>
            </a:endParaRPr>
          </a:p>
        </p:txBody>
      </p:sp>
      <p:sp>
        <p:nvSpPr>
          <p:cNvPr id="71" name="Google Shape;71;p1"/>
          <p:cNvSpPr txBox="1"/>
          <p:nvPr/>
        </p:nvSpPr>
        <p:spPr>
          <a:xfrm>
            <a:off x="10841224" y="23504066"/>
            <a:ext cx="10085926" cy="566030"/>
          </a:xfrm>
          <a:prstGeom prst="rect">
            <a:avLst/>
          </a:prstGeom>
          <a:noFill/>
          <a:ln>
            <a:noFill/>
          </a:ln>
        </p:spPr>
        <p:txBody>
          <a:bodyPr spcFirstLastPara="1" wrap="square" lIns="63300" tIns="63300" rIns="63300" bIns="63300" anchor="ctr" anchorCtr="0">
            <a:spAutoFit/>
          </a:bodyPr>
          <a:lstStyle/>
          <a:p>
            <a:pPr marL="0" marR="0" lvl="0" indent="0" algn="l" rtl="0">
              <a:spcBef>
                <a:spcPts val="0"/>
              </a:spcBef>
              <a:spcAft>
                <a:spcPts val="0"/>
              </a:spcAft>
              <a:buClr>
                <a:schemeClr val="dk1"/>
              </a:buClr>
              <a:buSzPts val="2800"/>
              <a:buFont typeface="Arial"/>
              <a:buNone/>
            </a:pPr>
            <a:r>
              <a:rPr lang="en-US" sz="2800" b="1" i="0" u="none" strike="noStrike" cap="none">
                <a:solidFill>
                  <a:schemeClr val="dk1"/>
                </a:solidFill>
                <a:latin typeface="Times New Roman"/>
                <a:ea typeface="Times New Roman"/>
                <a:cs typeface="Times New Roman"/>
                <a:sym typeface="Times New Roman"/>
              </a:rPr>
              <a:t>References</a:t>
            </a:r>
            <a:endParaRPr/>
          </a:p>
        </p:txBody>
      </p:sp>
      <p:sp>
        <p:nvSpPr>
          <p:cNvPr id="72" name="Google Shape;72;p1"/>
          <p:cNvSpPr txBox="1"/>
          <p:nvPr/>
        </p:nvSpPr>
        <p:spPr>
          <a:xfrm>
            <a:off x="10841225" y="24096665"/>
            <a:ext cx="10085925" cy="2843393"/>
          </a:xfrm>
          <a:prstGeom prst="rect">
            <a:avLst/>
          </a:prstGeom>
          <a:noFill/>
          <a:ln w="9525" cap="flat" cmpd="sng">
            <a:solidFill>
              <a:srgbClr val="D8D8D8"/>
            </a:solidFill>
            <a:prstDash val="solid"/>
            <a:round/>
            <a:headEnd type="none" w="sm" len="sm"/>
            <a:tailEnd type="none" w="sm" len="sm"/>
          </a:ln>
        </p:spPr>
        <p:txBody>
          <a:bodyPr spcFirstLastPara="1" wrap="square" lIns="158250" tIns="158250" rIns="158250" bIns="158250" anchor="t" anchorCtr="0">
            <a:spAutoFit/>
          </a:bodyPr>
          <a:lstStyle/>
          <a:p>
            <a:pPr marL="0" marR="0" lvl="0" indent="0" algn="l" rtl="0">
              <a:spcBef>
                <a:spcPts val="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[1]  S. Santos, P. Costa, and A. Rocha, "IT/OT convergence in Industry 4.0: risks and analysis of the problems," in Proc. 18th Iberian Conf. on Information Systems and Technologies (CISTI), 2023.</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[2]  L. D. Xu, E. L. Xu, and L. Li, "Industry 4.0: state of the art and future trends," Int. J. Prod. Res., vol. 56, no. 8, pp. 2941-2962, 2018.</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[3]  Enterprise-Control System Integration - Part 1: Models and Terminology, ISA-95.00.01, 2010.</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[4]  Modbus Organization, Modbus Application Protocol Specification V1.1b3, 2012.</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[5]  Information technology - Message Queuing Telemetry Transport (MQTT) v3.1.1, ISO/IEC 20922, 2016.</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[6]  InfluxData, "Telegraf 1.28 documentation," 2024. [Online]. Available: https://docs.influxdata.com/telegraf/.</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[7]  InfluxData, "InfluxDB 2.7 documentation," 2024. [Online]. Available: https://docs.influxdata.com/influxdb/v2/.</a:t>
            </a: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chemeClr val="dk1"/>
              </a:buClr>
              <a:buSzPts val="2000"/>
              <a:buFont typeface="Arial"/>
              <a:buNone/>
            </a:pPr>
            <a:r>
              <a:rPr lang="en-US" sz="1300" b="0" i="0" u="none" strike="noStrike" cap="none">
                <a:solidFill>
                  <a:schemeClr val="dk1"/>
                </a:solidFill>
                <a:latin typeface="Times New Roman"/>
                <a:ea typeface="Times New Roman"/>
                <a:cs typeface="Times New Roman"/>
                <a:sym typeface="Times New Roman"/>
              </a:rPr>
              <a:t>[8]  Grafana Labs, "Grafana documentation," 2024. [Online]. Available: https://grafana.com/docs/grafana/latest/.</a:t>
            </a:r>
            <a:endParaRPr sz="2000" b="0" i="0" u="none" strike="noStrike" cap="none">
              <a:solidFill>
                <a:schemeClr val="dk1"/>
              </a:solidFill>
              <a:latin typeface="Times New Roman"/>
              <a:ea typeface="Times New Roman"/>
              <a:cs typeface="Times New Roman"/>
              <a:sym typeface="Times New Roman"/>
            </a:endParaRPr>
          </a:p>
        </p:txBody>
      </p:sp>
      <p:pic>
        <p:nvPicPr>
          <p:cNvPr id="73" name="Google Shape;73;p1" descr="รูปภาพประกอบด้วย กราฟิก, การออกแบบกราฟิก, ออกแบบ, ตัวอักษร&#10;&#10;เนื้อหาที่สร้างโดย AI อาจไม่ถูกต้อง"/>
          <p:cNvPicPr preferRelativeResize="0"/>
          <p:nvPr/>
        </p:nvPicPr>
        <p:blipFill rotWithShape="1">
          <a:blip r:embed="rId3">
            <a:alphaModFix/>
          </a:blip>
          <a:srcRect/>
          <a:stretch/>
        </p:blipFill>
        <p:spPr>
          <a:xfrm>
            <a:off x="32657" y="1968201"/>
            <a:ext cx="3337605" cy="3090680"/>
          </a:xfrm>
          <a:prstGeom prst="rect">
            <a:avLst/>
          </a:prstGeom>
          <a:noFill/>
          <a:ln>
            <a:noFill/>
          </a:ln>
        </p:spPr>
      </p:pic>
      <p:pic>
        <p:nvPicPr>
          <p:cNvPr id="74" name="Google Shape;74;p1" descr="รูปภาพประกอบด้วย กราฟิก, ตัวอักษร, เครื่องหมาย, การออกแบบกราฟิก&#10;&#10;เนื้อหาที่สร้างโดย AI อาจไม่ถูกต้อง"/>
          <p:cNvPicPr preferRelativeResize="0"/>
          <p:nvPr/>
        </p:nvPicPr>
        <p:blipFill rotWithShape="1">
          <a:blip r:embed="rId4">
            <a:alphaModFix/>
          </a:blip>
          <a:srcRect/>
          <a:stretch/>
        </p:blipFill>
        <p:spPr>
          <a:xfrm>
            <a:off x="17570843" y="1131315"/>
            <a:ext cx="4136243" cy="4136243"/>
          </a:xfrm>
          <a:prstGeom prst="rect">
            <a:avLst/>
          </a:prstGeom>
          <a:noFill/>
          <a:ln>
            <a:noFill/>
          </a:ln>
        </p:spPr>
      </p:pic>
      <p:pic>
        <p:nvPicPr>
          <p:cNvPr id="75" name="Picture 74" descr="system_architecture.png"/>
          <p:cNvPicPr>
            <a:picLocks noChangeAspect="1"/>
          </p:cNvPicPr>
          <p:nvPr/>
        </p:nvPicPr>
        <p:blipFill>
          <a:blip r:embed="rId5"/>
          <a:stretch>
            <a:fillRect/>
          </a:stretch>
        </p:blipFill>
        <p:spPr>
          <a:xfrm>
            <a:off x="10999475" y="6968982"/>
            <a:ext cx="9769426" cy="4740908"/>
          </a:xfrm>
          <a:prstGeom prst="rect">
            <a:avLst/>
          </a:prstGeom>
        </p:spPr>
      </p:pic>
      <p:sp>
        <p:nvSpPr>
          <p:cNvPr id="76" name="TextBox 75"/>
          <p:cNvSpPr txBox="1"/>
          <p:nvPr/>
        </p:nvSpPr>
        <p:spPr>
          <a:xfrm>
            <a:off x="10999475" y="11839890"/>
            <a:ext cx="9769426" cy="380000"/>
          </a:xfrm>
          <a:prstGeom prst="rect">
            <a:avLst/>
          </a:prstGeom>
          <a:noFill/>
        </p:spPr>
        <p:txBody>
          <a:bodyPr wrap="square" lIns="0" tIns="0" rIns="0" bIns="0">
            <a:spAutoFit/>
          </a:bodyPr>
          <a:lstStyle/>
          <a:p>
            <a:r>
              <a:rPr sz="1400" i="1">
                <a:solidFill>
                  <a:srgbClr val="202020"/>
                </a:solidFill>
                <a:latin typeface="Times New Roman"/>
              </a:rPr>
              <a:t>Table 1. FC03 round-trip latency, ESP32-S3, 100 registers, 9,600 baud (5 of 8 libraries benchmarked).</a:t>
            </a:r>
          </a:p>
        </p:txBody>
      </p:sp>
      <p:graphicFrame>
        <p:nvGraphicFramePr>
          <p:cNvPr id="77" name="Table 76"/>
          <p:cNvGraphicFramePr>
            <a:graphicFrameLocks noGrp="1"/>
          </p:cNvGraphicFramePr>
          <p:nvPr/>
        </p:nvGraphicFramePr>
        <p:xfrm>
          <a:off x="10999475" y="12269890"/>
          <a:ext cx="9769426" cy="2280000"/>
        </p:xfrm>
        <a:graphic>
          <a:graphicData uri="http://schemas.openxmlformats.org/drawingml/2006/table">
            <a:tbl>
              <a:tblPr firstRow="1" bandRow="1">
                <a:tableStyleId>{5C22544A-7EE6-4342-B048-85BDC9FD1C3A}</a:tableStyleId>
              </a:tblPr>
              <a:tblGrid>
                <a:gridCol w="3223910">
                  <a:extLst>
                    <a:ext uri="{9D8B030D-6E8A-4147-A177-3AD203B41FA5}">
                      <a16:colId xmlns:a16="http://schemas.microsoft.com/office/drawing/2014/main" val="20000"/>
                    </a:ext>
                  </a:extLst>
                </a:gridCol>
                <a:gridCol w="1660802">
                  <a:extLst>
                    <a:ext uri="{9D8B030D-6E8A-4147-A177-3AD203B41FA5}">
                      <a16:colId xmlns:a16="http://schemas.microsoft.com/office/drawing/2014/main" val="20001"/>
                    </a:ext>
                  </a:extLst>
                </a:gridCol>
                <a:gridCol w="1465413">
                  <a:extLst>
                    <a:ext uri="{9D8B030D-6E8A-4147-A177-3AD203B41FA5}">
                      <a16:colId xmlns:a16="http://schemas.microsoft.com/office/drawing/2014/main" val="20002"/>
                    </a:ext>
                  </a:extLst>
                </a:gridCol>
                <a:gridCol w="1465413">
                  <a:extLst>
                    <a:ext uri="{9D8B030D-6E8A-4147-A177-3AD203B41FA5}">
                      <a16:colId xmlns:a16="http://schemas.microsoft.com/office/drawing/2014/main" val="20003"/>
                    </a:ext>
                  </a:extLst>
                </a:gridCol>
                <a:gridCol w="1953888">
                  <a:extLst>
                    <a:ext uri="{9D8B030D-6E8A-4147-A177-3AD203B41FA5}">
                      <a16:colId xmlns:a16="http://schemas.microsoft.com/office/drawing/2014/main" val="20004"/>
                    </a:ext>
                  </a:extLst>
                </a:gridCol>
              </a:tblGrid>
              <a:tr h="380000">
                <a:tc>
                  <a:txBody>
                    <a:bodyPr/>
                    <a:lstStyle/>
                    <a:p>
                      <a:pPr algn="l"/>
                      <a:r>
                        <a:rPr sz="1300" b="1">
                          <a:solidFill>
                            <a:srgbClr val="FFFFFF"/>
                          </a:solidFill>
                          <a:latin typeface="Times New Roman"/>
                        </a:rPr>
                        <a:t>Library</a:t>
                      </a:r>
                    </a:p>
                  </a:txBody>
                  <a:tcPr marL="45000" marR="45000" marT="18000" marB="18000" anchor="ctr">
                    <a:solidFill>
                      <a:srgbClr val="DD6115"/>
                    </a:solidFill>
                  </a:tcPr>
                </a:tc>
                <a:tc>
                  <a:txBody>
                    <a:bodyPr/>
                    <a:lstStyle/>
                    <a:p>
                      <a:pPr algn="ctr"/>
                      <a:r>
                        <a:rPr sz="1300" b="1">
                          <a:solidFill>
                            <a:srgbClr val="FFFFFF"/>
                          </a:solidFill>
                          <a:latin typeface="Times New Roman"/>
                        </a:rPr>
                        <a:t>Mean (ms)</a:t>
                      </a:r>
                    </a:p>
                  </a:txBody>
                  <a:tcPr marL="45000" marR="45000" marT="18000" marB="18000" anchor="ctr">
                    <a:solidFill>
                      <a:srgbClr val="DD6115"/>
                    </a:solidFill>
                  </a:tcPr>
                </a:tc>
                <a:tc>
                  <a:txBody>
                    <a:bodyPr/>
                    <a:lstStyle/>
                    <a:p>
                      <a:pPr algn="ctr"/>
                      <a:r>
                        <a:rPr sz="1300" b="1">
                          <a:solidFill>
                            <a:srgbClr val="FFFFFF"/>
                          </a:solidFill>
                          <a:latin typeface="Times New Roman"/>
                        </a:rPr>
                        <a:t>Flash (KB)</a:t>
                      </a:r>
                    </a:p>
                  </a:txBody>
                  <a:tcPr marL="45000" marR="45000" marT="18000" marB="18000" anchor="ctr">
                    <a:solidFill>
                      <a:srgbClr val="DD6115"/>
                    </a:solidFill>
                  </a:tcPr>
                </a:tc>
                <a:tc>
                  <a:txBody>
                    <a:bodyPr/>
                    <a:lstStyle/>
                    <a:p>
                      <a:pPr algn="ctr"/>
                      <a:r>
                        <a:rPr sz="1300" b="1">
                          <a:solidFill>
                            <a:srgbClr val="FFFFFF"/>
                          </a:solidFill>
                          <a:latin typeface="Times New Roman"/>
                        </a:rPr>
                        <a:t>RAM (KB)</a:t>
                      </a:r>
                    </a:p>
                  </a:txBody>
                  <a:tcPr marL="45000" marR="45000" marT="18000" marB="18000" anchor="ctr">
                    <a:solidFill>
                      <a:srgbClr val="DD6115"/>
                    </a:solidFill>
                  </a:tcPr>
                </a:tc>
                <a:tc>
                  <a:txBody>
                    <a:bodyPr/>
                    <a:lstStyle/>
                    <a:p>
                      <a:pPr algn="ctr"/>
                      <a:r>
                        <a:rPr sz="1300" b="1">
                          <a:solidFill>
                            <a:srgbClr val="FFFFFF"/>
                          </a:solidFill>
                          <a:latin typeface="Times New Roman"/>
                        </a:rPr>
                        <a:t>Note</a:t>
                      </a:r>
                    </a:p>
                  </a:txBody>
                  <a:tcPr marL="45000" marR="45000" marT="18000" marB="18000" anchor="ctr">
                    <a:solidFill>
                      <a:srgbClr val="DD6115"/>
                    </a:solidFill>
                  </a:tcPr>
                </a:tc>
                <a:extLst>
                  <a:ext uri="{0D108BD9-81ED-4DB2-BD59-A6C34878D82A}">
                    <a16:rowId xmlns:a16="http://schemas.microsoft.com/office/drawing/2014/main" val="10000"/>
                  </a:ext>
                </a:extLst>
              </a:tr>
              <a:tr h="380000">
                <a:tc>
                  <a:txBody>
                    <a:bodyPr/>
                    <a:lstStyle/>
                    <a:p>
                      <a:pPr algn="l"/>
                      <a:r>
                        <a:rPr sz="1300" b="0">
                          <a:solidFill>
                            <a:srgbClr val="202020"/>
                          </a:solidFill>
                          <a:latin typeface="Times New Roman"/>
                        </a:rPr>
                        <a:t>tobiasfaust (RTU)</a:t>
                      </a:r>
                    </a:p>
                  </a:txBody>
                  <a:tcPr marL="45000" marR="45000" marT="18000" marB="18000" anchor="ctr">
                    <a:solidFill>
                      <a:srgbClr val="FFFFFF"/>
                    </a:solidFill>
                  </a:tcPr>
                </a:tc>
                <a:tc>
                  <a:txBody>
                    <a:bodyPr/>
                    <a:lstStyle/>
                    <a:p>
                      <a:pPr algn="ctr"/>
                      <a:r>
                        <a:rPr sz="1300" b="0">
                          <a:solidFill>
                            <a:srgbClr val="202020"/>
                          </a:solidFill>
                          <a:latin typeface="Times New Roman"/>
                        </a:rPr>
                        <a:t>27.7</a:t>
                      </a:r>
                    </a:p>
                  </a:txBody>
                  <a:tcPr marL="45000" marR="45000" marT="18000" marB="18000" anchor="ctr">
                    <a:solidFill>
                      <a:srgbClr val="FFFFFF"/>
                    </a:solidFill>
                  </a:tcPr>
                </a:tc>
                <a:tc>
                  <a:txBody>
                    <a:bodyPr/>
                    <a:lstStyle/>
                    <a:p>
                      <a:pPr algn="ctr"/>
                      <a:r>
                        <a:rPr sz="1300" b="0">
                          <a:solidFill>
                            <a:srgbClr val="202020"/>
                          </a:solidFill>
                          <a:latin typeface="Times New Roman"/>
                        </a:rPr>
                        <a:t>300</a:t>
                      </a:r>
                    </a:p>
                  </a:txBody>
                  <a:tcPr marL="45000" marR="45000" marT="18000" marB="18000" anchor="ctr">
                    <a:solidFill>
                      <a:srgbClr val="FFFFFF"/>
                    </a:solidFill>
                  </a:tcPr>
                </a:tc>
                <a:tc>
                  <a:txBody>
                    <a:bodyPr/>
                    <a:lstStyle/>
                    <a:p>
                      <a:pPr algn="ctr"/>
                      <a:r>
                        <a:rPr sz="1300" b="0">
                          <a:solidFill>
                            <a:srgbClr val="202020"/>
                          </a:solidFill>
                          <a:latin typeface="Times New Roman"/>
                        </a:rPr>
                        <a:t>22.0</a:t>
                      </a:r>
                    </a:p>
                  </a:txBody>
                  <a:tcPr marL="45000" marR="45000" marT="18000" marB="18000" anchor="ctr">
                    <a:solidFill>
                      <a:srgbClr val="FFFFFF"/>
                    </a:solidFill>
                  </a:tcPr>
                </a:tc>
                <a:tc>
                  <a:txBody>
                    <a:bodyPr/>
                    <a:lstStyle/>
                    <a:p>
                      <a:pPr algn="ctr"/>
                      <a:r>
                        <a:rPr sz="1300" b="0">
                          <a:solidFill>
                            <a:srgbClr val="202020"/>
                          </a:solidFill>
                          <a:latin typeface="Times New Roman"/>
                        </a:rPr>
                        <a:t>Fastest</a:t>
                      </a:r>
                    </a:p>
                  </a:txBody>
                  <a:tcPr marL="45000" marR="45000" marT="18000" marB="18000" anchor="ctr">
                    <a:solidFill>
                      <a:srgbClr val="FFFFFF"/>
                    </a:solidFill>
                  </a:tcPr>
                </a:tc>
                <a:extLst>
                  <a:ext uri="{0D108BD9-81ED-4DB2-BD59-A6C34878D82A}">
                    <a16:rowId xmlns:a16="http://schemas.microsoft.com/office/drawing/2014/main" val="10001"/>
                  </a:ext>
                </a:extLst>
              </a:tr>
              <a:tr h="380000">
                <a:tc>
                  <a:txBody>
                    <a:bodyPr/>
                    <a:lstStyle/>
                    <a:p>
                      <a:pPr algn="l"/>
                      <a:r>
                        <a:rPr sz="1300" b="0">
                          <a:solidFill>
                            <a:srgbClr val="202020"/>
                          </a:solidFill>
                          <a:latin typeface="Times New Roman"/>
                        </a:rPr>
                        <a:t>espressif/esp-modbus</a:t>
                      </a:r>
                    </a:p>
                  </a:txBody>
                  <a:tcPr marL="45000" marR="45000" marT="18000" marB="18000" anchor="ctr">
                    <a:solidFill>
                      <a:srgbClr val="F7F3EF"/>
                    </a:solidFill>
                  </a:tcPr>
                </a:tc>
                <a:tc>
                  <a:txBody>
                    <a:bodyPr/>
                    <a:lstStyle/>
                    <a:p>
                      <a:pPr algn="ctr"/>
                      <a:r>
                        <a:rPr sz="1300" b="0">
                          <a:solidFill>
                            <a:srgbClr val="202020"/>
                          </a:solidFill>
                          <a:latin typeface="Times New Roman"/>
                        </a:rPr>
                        <a:t>28.0</a:t>
                      </a:r>
                    </a:p>
                  </a:txBody>
                  <a:tcPr marL="45000" marR="45000" marT="18000" marB="18000" anchor="ctr">
                    <a:solidFill>
                      <a:srgbClr val="F7F3EF"/>
                    </a:solidFill>
                  </a:tcPr>
                </a:tc>
                <a:tc>
                  <a:txBody>
                    <a:bodyPr/>
                    <a:lstStyle/>
                    <a:p>
                      <a:pPr algn="ctr"/>
                      <a:r>
                        <a:rPr sz="1300" b="0">
                          <a:solidFill>
                            <a:srgbClr val="202020"/>
                          </a:solidFill>
                          <a:latin typeface="Times New Roman"/>
                        </a:rPr>
                        <a:t>270</a:t>
                      </a:r>
                    </a:p>
                  </a:txBody>
                  <a:tcPr marL="45000" marR="45000" marT="18000" marB="18000" anchor="ctr">
                    <a:solidFill>
                      <a:srgbClr val="F7F3EF"/>
                    </a:solidFill>
                  </a:tcPr>
                </a:tc>
                <a:tc>
                  <a:txBody>
                    <a:bodyPr/>
                    <a:lstStyle/>
                    <a:p>
                      <a:pPr algn="ctr"/>
                      <a:r>
                        <a:rPr sz="1300" b="0">
                          <a:solidFill>
                            <a:srgbClr val="202020"/>
                          </a:solidFill>
                          <a:latin typeface="Times New Roman"/>
                        </a:rPr>
                        <a:t>14.4</a:t>
                      </a:r>
                    </a:p>
                  </a:txBody>
                  <a:tcPr marL="45000" marR="45000" marT="18000" marB="18000" anchor="ctr">
                    <a:solidFill>
                      <a:srgbClr val="F7F3EF"/>
                    </a:solidFill>
                  </a:tcPr>
                </a:tc>
                <a:tc>
                  <a:txBody>
                    <a:bodyPr/>
                    <a:lstStyle/>
                    <a:p>
                      <a:pPr algn="ctr"/>
                      <a:r>
                        <a:rPr sz="1300" b="0">
                          <a:solidFill>
                            <a:srgbClr val="202020"/>
                          </a:solidFill>
                          <a:latin typeface="Times New Roman"/>
                        </a:rPr>
                        <a:t>Smallest RAM</a:t>
                      </a:r>
                    </a:p>
                  </a:txBody>
                  <a:tcPr marL="45000" marR="45000" marT="18000" marB="18000" anchor="ctr">
                    <a:solidFill>
                      <a:srgbClr val="F7F3EF"/>
                    </a:solidFill>
                  </a:tcPr>
                </a:tc>
                <a:extLst>
                  <a:ext uri="{0D108BD9-81ED-4DB2-BD59-A6C34878D82A}">
                    <a16:rowId xmlns:a16="http://schemas.microsoft.com/office/drawing/2014/main" val="10002"/>
                  </a:ext>
                </a:extLst>
              </a:tr>
              <a:tr h="380000">
                <a:tc>
                  <a:txBody>
                    <a:bodyPr/>
                    <a:lstStyle/>
                    <a:p>
                      <a:pPr algn="l"/>
                      <a:r>
                        <a:rPr sz="1300" b="0">
                          <a:solidFill>
                            <a:srgbClr val="202020"/>
                          </a:solidFill>
                          <a:latin typeface="Times New Roman"/>
                        </a:rPr>
                        <a:t>eModbus/eModbus</a:t>
                      </a:r>
                    </a:p>
                  </a:txBody>
                  <a:tcPr marL="45000" marR="45000" marT="18000" marB="18000" anchor="ctr">
                    <a:solidFill>
                      <a:srgbClr val="FFFFFF"/>
                    </a:solidFill>
                  </a:tcPr>
                </a:tc>
                <a:tc>
                  <a:txBody>
                    <a:bodyPr/>
                    <a:lstStyle/>
                    <a:p>
                      <a:pPr algn="ctr"/>
                      <a:r>
                        <a:rPr sz="1300" b="0">
                          <a:solidFill>
                            <a:srgbClr val="202020"/>
                          </a:solidFill>
                          <a:latin typeface="Times New Roman"/>
                        </a:rPr>
                        <a:t>30.3</a:t>
                      </a:r>
                    </a:p>
                  </a:txBody>
                  <a:tcPr marL="45000" marR="45000" marT="18000" marB="18000" anchor="ctr">
                    <a:solidFill>
                      <a:srgbClr val="FFFFFF"/>
                    </a:solidFill>
                  </a:tcPr>
                </a:tc>
                <a:tc>
                  <a:txBody>
                    <a:bodyPr/>
                    <a:lstStyle/>
                    <a:p>
                      <a:pPr algn="ctr"/>
                      <a:r>
                        <a:rPr sz="1300" b="0">
                          <a:solidFill>
                            <a:srgbClr val="202020"/>
                          </a:solidFill>
                          <a:latin typeface="Times New Roman"/>
                        </a:rPr>
                        <a:t>384</a:t>
                      </a:r>
                    </a:p>
                  </a:txBody>
                  <a:tcPr marL="45000" marR="45000" marT="18000" marB="18000" anchor="ctr">
                    <a:solidFill>
                      <a:srgbClr val="FFFFFF"/>
                    </a:solidFill>
                  </a:tcPr>
                </a:tc>
                <a:tc>
                  <a:txBody>
                    <a:bodyPr/>
                    <a:lstStyle/>
                    <a:p>
                      <a:pPr algn="ctr"/>
                      <a:r>
                        <a:rPr sz="1300" b="0">
                          <a:solidFill>
                            <a:srgbClr val="202020"/>
                          </a:solidFill>
                          <a:latin typeface="Times New Roman"/>
                        </a:rPr>
                        <a:t>22.9</a:t>
                      </a:r>
                    </a:p>
                  </a:txBody>
                  <a:tcPr marL="45000" marR="45000" marT="18000" marB="18000" anchor="ctr">
                    <a:solidFill>
                      <a:srgbClr val="FFFFFF"/>
                    </a:solidFill>
                  </a:tcPr>
                </a:tc>
                <a:tc>
                  <a:txBody>
                    <a:bodyPr/>
                    <a:lstStyle/>
                    <a:p>
                      <a:pPr algn="ctr"/>
                      <a:r>
                        <a:rPr sz="1300" b="0">
                          <a:solidFill>
                            <a:srgbClr val="202020"/>
                          </a:solidFill>
                          <a:latin typeface="Times New Roman"/>
                        </a:rPr>
                        <a:t>FreeRTOS alt.</a:t>
                      </a:r>
                    </a:p>
                  </a:txBody>
                  <a:tcPr marL="45000" marR="45000" marT="18000" marB="18000" anchor="ctr">
                    <a:solidFill>
                      <a:srgbClr val="FFFFFF"/>
                    </a:solidFill>
                  </a:tcPr>
                </a:tc>
                <a:extLst>
                  <a:ext uri="{0D108BD9-81ED-4DB2-BD59-A6C34878D82A}">
                    <a16:rowId xmlns:a16="http://schemas.microsoft.com/office/drawing/2014/main" val="10003"/>
                  </a:ext>
                </a:extLst>
              </a:tr>
              <a:tr h="380000">
                <a:tc>
                  <a:txBody>
                    <a:bodyPr/>
                    <a:lstStyle/>
                    <a:p>
                      <a:pPr algn="l"/>
                      <a:r>
                        <a:rPr sz="1300" b="0">
                          <a:solidFill>
                            <a:srgbClr val="202020"/>
                          </a:solidFill>
                          <a:latin typeface="Times New Roman"/>
                        </a:rPr>
                        <a:t>zivillian/eModbus</a:t>
                      </a:r>
                    </a:p>
                  </a:txBody>
                  <a:tcPr marL="45000" marR="45000" marT="18000" marB="18000" anchor="ctr">
                    <a:solidFill>
                      <a:srgbClr val="F7F3EF"/>
                    </a:solidFill>
                  </a:tcPr>
                </a:tc>
                <a:tc>
                  <a:txBody>
                    <a:bodyPr/>
                    <a:lstStyle/>
                    <a:p>
                      <a:pPr algn="ctr"/>
                      <a:r>
                        <a:rPr sz="1300" b="0">
                          <a:solidFill>
                            <a:srgbClr val="202020"/>
                          </a:solidFill>
                          <a:latin typeface="Times New Roman"/>
                        </a:rPr>
                        <a:t>32.9</a:t>
                      </a:r>
                    </a:p>
                  </a:txBody>
                  <a:tcPr marL="45000" marR="45000" marT="18000" marB="18000" anchor="ctr">
                    <a:solidFill>
                      <a:srgbClr val="F7F3EF"/>
                    </a:solidFill>
                  </a:tcPr>
                </a:tc>
                <a:tc>
                  <a:txBody>
                    <a:bodyPr/>
                    <a:lstStyle/>
                    <a:p>
                      <a:pPr algn="ctr"/>
                      <a:r>
                        <a:rPr sz="1300" b="0">
                          <a:solidFill>
                            <a:srgbClr val="202020"/>
                          </a:solidFill>
                          <a:latin typeface="Times New Roman"/>
                        </a:rPr>
                        <a:t>384</a:t>
                      </a:r>
                    </a:p>
                  </a:txBody>
                  <a:tcPr marL="45000" marR="45000" marT="18000" marB="18000" anchor="ctr">
                    <a:solidFill>
                      <a:srgbClr val="F7F3EF"/>
                    </a:solidFill>
                  </a:tcPr>
                </a:tc>
                <a:tc>
                  <a:txBody>
                    <a:bodyPr/>
                    <a:lstStyle/>
                    <a:p>
                      <a:pPr algn="ctr"/>
                      <a:r>
                        <a:rPr sz="1300" b="0">
                          <a:solidFill>
                            <a:srgbClr val="202020"/>
                          </a:solidFill>
                          <a:latin typeface="Times New Roman"/>
                        </a:rPr>
                        <a:t>22.9</a:t>
                      </a:r>
                    </a:p>
                  </a:txBody>
                  <a:tcPr marL="45000" marR="45000" marT="18000" marB="18000" anchor="ctr">
                    <a:solidFill>
                      <a:srgbClr val="F7F3EF"/>
                    </a:solidFill>
                  </a:tcPr>
                </a:tc>
                <a:tc>
                  <a:txBody>
                    <a:bodyPr/>
                    <a:lstStyle/>
                    <a:p>
                      <a:pPr algn="ctr"/>
                      <a:r>
                        <a:rPr sz="1300" b="0">
                          <a:solidFill>
                            <a:srgbClr val="202020"/>
                          </a:solidFill>
                          <a:latin typeface="Times New Roman"/>
                        </a:rPr>
                        <a:t>132 ms outlier</a:t>
                      </a:r>
                    </a:p>
                  </a:txBody>
                  <a:tcPr marL="45000" marR="45000" marT="18000" marB="18000" anchor="ctr">
                    <a:solidFill>
                      <a:srgbClr val="F7F3EF"/>
                    </a:solidFill>
                  </a:tcPr>
                </a:tc>
                <a:extLst>
                  <a:ext uri="{0D108BD9-81ED-4DB2-BD59-A6C34878D82A}">
                    <a16:rowId xmlns:a16="http://schemas.microsoft.com/office/drawing/2014/main" val="10004"/>
                  </a:ext>
                </a:extLst>
              </a:tr>
              <a:tr h="380000">
                <a:tc>
                  <a:txBody>
                    <a:bodyPr/>
                    <a:lstStyle/>
                    <a:p>
                      <a:pPr algn="l"/>
                      <a:r>
                        <a:rPr sz="1300" b="0">
                          <a:solidFill>
                            <a:srgbClr val="DD6115"/>
                          </a:solidFill>
                          <a:latin typeface="Times New Roman"/>
                        </a:rPr>
                        <a:t>emelianov/modbus-esp8266</a:t>
                      </a:r>
                    </a:p>
                  </a:txBody>
                  <a:tcPr marL="45000" marR="45000" marT="18000" marB="18000" anchor="ctr">
                    <a:solidFill>
                      <a:srgbClr val="FFFFFF"/>
                    </a:solidFill>
                  </a:tcPr>
                </a:tc>
                <a:tc>
                  <a:txBody>
                    <a:bodyPr/>
                    <a:lstStyle/>
                    <a:p>
                      <a:pPr algn="ctr"/>
                      <a:r>
                        <a:rPr sz="1300" b="0">
                          <a:solidFill>
                            <a:srgbClr val="202020"/>
                          </a:solidFill>
                          <a:latin typeface="Times New Roman"/>
                        </a:rPr>
                        <a:t>33.4</a:t>
                      </a:r>
                    </a:p>
                  </a:txBody>
                  <a:tcPr marL="45000" marR="45000" marT="18000" marB="18000" anchor="ctr">
                    <a:solidFill>
                      <a:srgbClr val="FFFFFF"/>
                    </a:solidFill>
                  </a:tcPr>
                </a:tc>
                <a:tc>
                  <a:txBody>
                    <a:bodyPr/>
                    <a:lstStyle/>
                    <a:p>
                      <a:pPr algn="ctr"/>
                      <a:r>
                        <a:rPr sz="1300" b="0">
                          <a:solidFill>
                            <a:srgbClr val="202020"/>
                          </a:solidFill>
                          <a:latin typeface="Times New Roman"/>
                        </a:rPr>
                        <a:t>310</a:t>
                      </a:r>
                    </a:p>
                  </a:txBody>
                  <a:tcPr marL="45000" marR="45000" marT="18000" marB="18000" anchor="ctr">
                    <a:solidFill>
                      <a:srgbClr val="FFFFFF"/>
                    </a:solidFill>
                  </a:tcPr>
                </a:tc>
                <a:tc>
                  <a:txBody>
                    <a:bodyPr/>
                    <a:lstStyle/>
                    <a:p>
                      <a:pPr algn="ctr"/>
                      <a:r>
                        <a:rPr sz="1300" b="0">
                          <a:solidFill>
                            <a:srgbClr val="202020"/>
                          </a:solidFill>
                          <a:latin typeface="Times New Roman"/>
                        </a:rPr>
                        <a:t>22.2</a:t>
                      </a:r>
                    </a:p>
                  </a:txBody>
                  <a:tcPr marL="45000" marR="45000" marT="18000" marB="18000" anchor="ctr">
                    <a:solidFill>
                      <a:srgbClr val="FFFFFF"/>
                    </a:solidFill>
                  </a:tcPr>
                </a:tc>
                <a:tc>
                  <a:txBody>
                    <a:bodyPr/>
                    <a:lstStyle/>
                    <a:p>
                      <a:pPr algn="ctr"/>
                      <a:r>
                        <a:rPr sz="1300" b="1">
                          <a:solidFill>
                            <a:srgbClr val="202020"/>
                          </a:solidFill>
                          <a:latin typeface="Times New Roman"/>
                        </a:rPr>
                        <a:t>Recommended</a:t>
                      </a:r>
                    </a:p>
                  </a:txBody>
                  <a:tcPr marL="45000" marR="45000" marT="18000" marB="18000" anchor="ctr">
                    <a:solidFill>
                      <a:srgbClr val="FFFFFF"/>
                    </a:solidFill>
                  </a:tcPr>
                </a:tc>
                <a:extLst>
                  <a:ext uri="{0D108BD9-81ED-4DB2-BD59-A6C34878D82A}">
                    <a16:rowId xmlns:a16="http://schemas.microsoft.com/office/drawing/2014/main" val="10005"/>
                  </a:ext>
                </a:extLst>
              </a:tr>
            </a:tbl>
          </a:graphicData>
        </a:graphic>
      </p:graphicFrame>
      <p:sp>
        <p:nvSpPr>
          <p:cNvPr id="78" name="TextBox 77"/>
          <p:cNvSpPr txBox="1"/>
          <p:nvPr/>
        </p:nvSpPr>
        <p:spPr>
          <a:xfrm>
            <a:off x="10999475" y="14679890"/>
            <a:ext cx="9769426" cy="1550000"/>
          </a:xfrm>
          <a:prstGeom prst="rect">
            <a:avLst/>
          </a:prstGeom>
          <a:noFill/>
        </p:spPr>
        <p:txBody>
          <a:bodyPr wrap="square" lIns="0" tIns="0" rIns="0" bIns="0">
            <a:spAutoFit/>
          </a:bodyPr>
          <a:lstStyle/>
          <a:p>
            <a:r>
              <a:rPr sz="1600">
                <a:solidFill>
                  <a:srgbClr val="202020"/>
                </a:solidFill>
                <a:latin typeface="Times New Roman"/>
              </a:rPr>
              <a:t>All 8 libraries passed the stress suite; every candidate sits within ~10 ms of the ~24 ms wire-time floor, well under the platform's 2-second telemetry cycle.</a:t>
            </a:r>
          </a:p>
          <a:p>
            <a:pPr>
              <a:spcBef>
                <a:spcPts val="800"/>
              </a:spcBef>
            </a:pPr>
            <a:r>
              <a:rPr sz="1600">
                <a:latin typeface="Times New Roman"/>
              </a:rPr>
              <a:t>Built as a complete gateway — Modbus TCP slave, RTU master, MQTT publisher, and watchdog in one cooperative loop — the production firmware occupies 946 KB of the 1,310 KB app partition (72.2%) and 48.5 KB of 327.6 KB RAM (14.8%). End to end, an RTU poll, register update, MQTT publish, and TCP slave service complete well inside the two-second cycle, confirming a complete dual-protocol gateway fits a low-cost MCU with headroom to spare.</a:t>
            </a:r>
          </a:p>
        </p:txBody>
      </p:sp>
    </p:spTree>
  </p:cSld>
  <p:clrMapOvr>
    <a:masterClrMapping/>
  </p:clrMapOvr>
</p:sld>
</file>

<file path=ppt/theme/theme1.xml><?xml version="1.0" encoding="utf-8"?>
<a:theme xmlns:a="http://schemas.openxmlformats.org/drawingml/2006/main" name="A1 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ithout Guide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1570</Words>
  <Application>Microsoft Macintosh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A1 Template</vt:lpstr>
      <vt:lpstr>Without Guides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PosterPresentations.com</dc:creator>
  <cp:lastModifiedBy>PATTHANAN BHUNDHUMANI</cp:lastModifiedBy>
  <cp:revision>2</cp:revision>
  <dcterms:created xsi:type="dcterms:W3CDTF">2012-02-10T00:21:22Z</dcterms:created>
  <dcterms:modified xsi:type="dcterms:W3CDTF">2026-07-13T05:38:52Z</dcterms:modified>
</cp:coreProperties>
</file>